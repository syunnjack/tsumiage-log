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7d0e3e8e23346fd" /><Relationship Type="http://schemas.openxmlformats.org/officeDocument/2006/relationships/extended-properties" Target="/docProps/app.xml" Id="R37c7f9dff07341d3" /><Relationship Type="http://schemas.openxmlformats.org/officeDocument/2006/relationships/officeDocument" Target="/ppt/presentation.xml" Id="Rfed603abad36407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5f2781f00bb4379"/>
  </p:sldMasterIdLst>
  <p:notesMasterIdLst>
    <p:notesMasterId xmlns:r="http://schemas.openxmlformats.org/officeDocument/2006/relationships" r:id="R34fd7190555f445f"/>
  </p:notesMasterIdLst>
  <p:sldIdLst>
    <p:sldId xmlns:r="http://schemas.openxmlformats.org/officeDocument/2006/relationships" id="256" r:id="R769f7a3a9d3c4c9f"/>
    <p:sldId xmlns:r="http://schemas.openxmlformats.org/officeDocument/2006/relationships" id="257" r:id="Rd536bff1f75f4971"/>
    <p:sldId xmlns:r="http://schemas.openxmlformats.org/officeDocument/2006/relationships" id="258" r:id="Re4e1dc959ce74aba"/>
    <p:sldId xmlns:r="http://schemas.openxmlformats.org/officeDocument/2006/relationships" id="259" r:id="Re6be8452f5754e20"/>
    <p:sldId xmlns:r="http://schemas.openxmlformats.org/officeDocument/2006/relationships" id="260" r:id="R4c4b06f96a9b4622"/>
    <p:sldId xmlns:r="http://schemas.openxmlformats.org/officeDocument/2006/relationships" id="261" r:id="Rf184d15fee914d79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cd63b46153748d5" /><Relationship Type="http://schemas.openxmlformats.org/officeDocument/2006/relationships/slideMaster" Target="/ppt/slideMasters/slideMaster1.xml" Id="R65f2781f00bb4379" /><Relationship Type="http://schemas.openxmlformats.org/officeDocument/2006/relationships/notesMaster" Target="/ppt/notesMasters/notesMaster1.xml" Id="R34fd7190555f445f" /><Relationship Type="http://schemas.openxmlformats.org/officeDocument/2006/relationships/presProps" Target="/ppt/presProps.xml" Id="Ra2f9faa86f0240ab" /><Relationship Type="http://schemas.openxmlformats.org/officeDocument/2006/relationships/tableStyles" Target="/ppt/tableStyles.xml" Id="R2cd6783fdae04557" /><Relationship Type="http://schemas.openxmlformats.org/officeDocument/2006/relationships/slide" Target="/ppt/slides/slide1.xml" Id="R769f7a3a9d3c4c9f" /><Relationship Type="http://schemas.openxmlformats.org/officeDocument/2006/relationships/slide" Target="/ppt/slides/slide2.xml" Id="Rd536bff1f75f4971" /><Relationship Type="http://schemas.openxmlformats.org/officeDocument/2006/relationships/slide" Target="/ppt/slides/slide3.xml" Id="Re4e1dc959ce74aba" /><Relationship Type="http://schemas.openxmlformats.org/officeDocument/2006/relationships/slide" Target="/ppt/slides/slide4.xml" Id="Re6be8452f5754e20" /><Relationship Type="http://schemas.openxmlformats.org/officeDocument/2006/relationships/slide" Target="/ppt/slides/slide5.xml" Id="R4c4b06f96a9b4622" /><Relationship Type="http://schemas.openxmlformats.org/officeDocument/2006/relationships/slide" Target="/ppt/slides/slide6.xml" Id="Rf184d15fee914d7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e012690ffca424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44e2ab7c9504b06" /><Relationship Type="http://schemas.openxmlformats.org/officeDocument/2006/relationships/notesMaster" Target="/ppt/notesMasters/notesMaster1.xml" Id="R587c4fa38cb3437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06d09c16ba94dde" /><Relationship Type="http://schemas.openxmlformats.org/officeDocument/2006/relationships/notesMaster" Target="/ppt/notesMasters/notesMaster1.xml" Id="Rbd7135793e784de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a52d08a261b4487" /><Relationship Type="http://schemas.openxmlformats.org/officeDocument/2006/relationships/notesMaster" Target="/ppt/notesMasters/notesMaster1.xml" Id="R8edb10699453464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9f9a5d85558498d" /><Relationship Type="http://schemas.openxmlformats.org/officeDocument/2006/relationships/notesMaster" Target="/ppt/notesMasters/notesMaster1.xml" Id="R19230dcc3f0647a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3bd1cdd143d4799" /><Relationship Type="http://schemas.openxmlformats.org/officeDocument/2006/relationships/notesMaster" Target="/ppt/notesMasters/notesMaster1.xml" Id="Rb23d259635984ff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648eebba7274a1d" /><Relationship Type="http://schemas.openxmlformats.org/officeDocument/2006/relationships/notesMaster" Target="/ppt/notesMasters/notesMaster1.xml" Id="Rb0ea71602a5d4bf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今回は、Mofumofu Tokaiの技術構成を短く解説します。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https://github.com/syunnjack/mofumofu-tokai</a:t>
            </a:r>
          </a:p>
          <a:p xmlns:a="http://schemas.openxmlformats.org/drawingml/2006/main">
            <a:r>
              <a:t>- https://syunnjack.dev/articles/mofumofu-tokai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愛知・静岡のひとり動物カフェ専門アフィリエイトメディア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https://github.com/syunnjack/mofumofu-tokai</a:t>
            </a:r>
          </a:p>
          <a:p xmlns:a="http://schemas.openxmlformats.org/drawingml/2006/main">
            <a:r>
              <a:t>- https://syunnjack.dev/articles/mofumofu-tokai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主な技術はHTML・CSSです。役割を分け、保守しやすい構成を目指しています。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https://github.com/syunnjack/mofumofu-tokai</a:t>
            </a:r>
          </a:p>
          <a:p xmlns:a="http://schemas.openxmlformats.org/drawingml/2006/main">
            <a:r>
              <a:t>- https://syunnjack.dev/articles/mofumofu-tokai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リポジトリでは、public、wrangler.tomlを中心に実装を確認できます。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https://github.com/syunnjack/mofumofu-tokai</a:t>
            </a:r>
          </a:p>
          <a:p xmlns:a="http://schemas.openxmlformats.org/drawingml/2006/main">
            <a:r>
              <a:t>- https://syunnjack.dev/articles/mofumofu-tokai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直近のコミットでは、実装の見直しと継続的な改善が行われました。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https://github.com/syunnjack/mofumofu-tokai</a:t>
            </a:r>
          </a:p>
          <a:p xmlns:a="http://schemas.openxmlformats.org/drawingml/2006/main">
            <a:r>
              <a:t>- https://syunnjack.dev/articles/mofumofu-tokai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詳しい設計とコミット履歴は、技術ブログ積み上げログの記事で紹介しています。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https://github.com/syunnjack/mofumofu-tokai</a:t>
            </a:r>
          </a:p>
          <a:p xmlns:a="http://schemas.openxmlformats.org/drawingml/2006/main">
            <a:r>
              <a:t>- https://syunnjack.dev/articles/mofumofu-tokai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581d84764144de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082633b940748b6" /><Relationship Type="http://schemas.openxmlformats.org/officeDocument/2006/relationships/slideLayout" Target="/ppt/slideLayouts/slideLayout1.xml" Id="Rc1394a2d126040a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1394a2d126040a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09e8c473f424bb7" /><Relationship Type="http://schemas.openxmlformats.org/officeDocument/2006/relationships/notesSlide" Target="/ppt/notesSlides/notesSlide1.xml" Id="Rfc528bbbb9fc488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666394e54294c30" /><Relationship Type="http://schemas.openxmlformats.org/officeDocument/2006/relationships/notesSlide" Target="/ppt/notesSlides/notesSlide2.xml" Id="R801cf562244c436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6b66d4232f74330" /><Relationship Type="http://schemas.openxmlformats.org/officeDocument/2006/relationships/notesSlide" Target="/ppt/notesSlides/notesSlide3.xml" Id="R4292a63696eb4eb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638499442ae4e91" /><Relationship Type="http://schemas.openxmlformats.org/officeDocument/2006/relationships/notesSlide" Target="/ppt/notesSlides/notesSlide4.xml" Id="R13dc49147c4b416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8f05fba8bdb482a" /><Relationship Type="http://schemas.openxmlformats.org/officeDocument/2006/relationships/notesSlide" Target="/ppt/notesSlides/notesSlide5.xml" Id="Rf5b07b251511425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b054db52de146a6" /><Relationship Type="http://schemas.openxmlformats.org/officeDocument/2006/relationships/notesSlide" Target="/ppt/notesSlides/notesSlide6.xml" Id="R547e6d5b747b4e0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A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C179991-CDC7-425A-992E-034E67E7C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C22"/>
          </a:solidFill>
          <a:ln xmlns:a="http://schemas.openxmlformats.org/drawingml/2006/main" w="0">
            <a:solidFill>
              <a:srgbClr val="002C22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DC2D6BE-F483-4484-8641-99EC7A49C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6667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9A00"/>
          </a:solidFill>
          <a:ln xmlns:a="http://schemas.openxmlformats.org/drawingml/2006/main" w="0">
            <a:solidFill>
              <a:srgbClr val="FE9A00"/>
            </a:solidFill>
            <a:prstDash val="solid"/>
          </a:ln>
        </p:spPr>
      </p:sp>
      <p:sp>
        <p:nvSpPr>
          <p:cNvPr id="3" name="series-0">
            <a:extLst xmlns:a="http://schemas.openxmlformats.org/drawingml/2006/main">
              <a:ext uri="{FF2B5EF4-FFF2-40B4-BE49-F238E27FC236}">
                <a16:creationId xmlns:a16="http://schemas.microsoft.com/office/drawing/2014/main" id="{D0E71CDA-EE0B-4200-82C8-69A8304D4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438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02C22"/>
                </a:solidFill>
              </a:defRPr>
            </a:pPr>
            <a:r>
              <a:rPr sz="1200" b="1">
                <a:solidFill>
                  <a:srgbClr val="002C22"/>
                </a:solidFill>
              </a:rPr>
              <a:t>積み上げログ  |  技術解説</a:t>
            </a:r>
          </a:p>
        </p:txBody>
      </p:sp>
      <p:sp>
        <p:nvSpPr>
          <p:cNvPr id="4" name="page-0">
            <a:extLst xmlns:a="http://schemas.openxmlformats.org/drawingml/2006/main">
              <a:ext uri="{FF2B5EF4-FFF2-40B4-BE49-F238E27FC236}">
                <a16:creationId xmlns:a16="http://schemas.microsoft.com/office/drawing/2014/main" id="{9859ACEC-0945-4F16-97BB-323202097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6191250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7534D"/>
                </a:solidFill>
              </a:defRPr>
            </a:pPr>
            <a:r>
              <a:rPr sz="1050" b="1">
                <a:solidFill>
                  <a:srgbClr val="57534D"/>
                </a:solidFill>
              </a:rPr>
              <a:t>01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8D29185D-632F-4254-A910-8C1D17250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14500"/>
            <a:ext cx="10287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4350" b="1">
                <a:solidFill>
                  <a:srgbClr val="002C22"/>
                </a:solidFill>
              </a:defRPr>
            </a:pPr>
            <a:r>
              <a:rPr sz="4350" b="1">
                <a:solidFill>
                  <a:srgbClr val="002C22"/>
                </a:solidFill>
              </a:rPr>
              <a:t>Mofumofu Tokaiの技術解説</a:t>
            </a:r>
          </a:p>
        </p:txBody>
      </p:sp>
      <p:sp>
        <p:nvSpPr>
          <p:cNvPr id="6" name="subtitle">
            <a:extLst xmlns:a="http://schemas.openxmlformats.org/drawingml/2006/main">
              <a:ext uri="{FF2B5EF4-FFF2-40B4-BE49-F238E27FC236}">
                <a16:creationId xmlns:a16="http://schemas.microsoft.com/office/drawing/2014/main" id="{38905F46-95A2-466B-9B78-5567E9C2C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29000"/>
            <a:ext cx="8953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57534D"/>
                </a:solidFill>
              </a:defRPr>
            </a:pPr>
            <a:r>
              <a:rPr sz="1875">
                <a:solidFill>
                  <a:srgbClr val="57534D"/>
                </a:solidFill>
              </a:rPr>
              <a:t>設計・実装・コミットから学ぶ短時間の技術解説</a:t>
            </a:r>
          </a:p>
        </p:txBody>
      </p:sp>
      <p:sp>
        <p:nvSpPr>
          <p:cNvPr id="7" name="language">
            <a:extLst xmlns:a="http://schemas.openxmlformats.org/drawingml/2006/main">
              <a:ext uri="{FF2B5EF4-FFF2-40B4-BE49-F238E27FC236}">
                <a16:creationId xmlns:a16="http://schemas.microsoft.com/office/drawing/2014/main" id="{B2D733E1-8B03-401C-A210-7FA727BAA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762500"/>
            <a:ext cx="3048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E9A00"/>
                </a:solidFill>
              </a:defRPr>
            </a:pPr>
            <a:r>
              <a:rPr sz="1500" b="1">
                <a:solidFill>
                  <a:srgbClr val="FE9A00"/>
                </a:solidFill>
              </a:rPr>
              <a:t>HTML・CSS</a:t>
            </a:r>
          </a:p>
        </p:txBody>
      </p:sp>
    </p:spTree>
    <p:extLst>
      <p:ext uri="{BB962C8B-B14F-4D97-AF65-F5344CB8AC3E}">
        <p14:creationId xmlns:p14="http://schemas.microsoft.com/office/powerpoint/2010/main" val="99966686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A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D583930-30D0-4CA8-9C2B-06F2A8213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C22"/>
          </a:solidFill>
          <a:ln xmlns:a="http://schemas.openxmlformats.org/drawingml/2006/main" w="0">
            <a:solidFill>
              <a:srgbClr val="002C22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2B3D1DD-27C7-4EB1-B8E5-B55893FBF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6667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9A00"/>
          </a:solidFill>
          <a:ln xmlns:a="http://schemas.openxmlformats.org/drawingml/2006/main" w="0">
            <a:solidFill>
              <a:srgbClr val="FE9A00"/>
            </a:solidFill>
            <a:prstDash val="solid"/>
          </a:ln>
        </p:spPr>
      </p:sp>
      <p:sp>
        <p:nvSpPr>
          <p:cNvPr id="3" name="series-1">
            <a:extLst xmlns:a="http://schemas.openxmlformats.org/drawingml/2006/main">
              <a:ext uri="{FF2B5EF4-FFF2-40B4-BE49-F238E27FC236}">
                <a16:creationId xmlns:a16="http://schemas.microsoft.com/office/drawing/2014/main" id="{69A4997C-9F6C-4345-846A-93883AC26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438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02C22"/>
                </a:solidFill>
              </a:defRPr>
            </a:pPr>
            <a:r>
              <a:rPr sz="1200" b="1">
                <a:solidFill>
                  <a:srgbClr val="002C22"/>
                </a:solidFill>
              </a:rPr>
              <a:t>積み上げログ  |  技術解説</a:t>
            </a:r>
          </a:p>
        </p:txBody>
      </p:sp>
      <p:sp>
        <p:nvSpPr>
          <p:cNvPr id="4" name="page-1">
            <a:extLst xmlns:a="http://schemas.openxmlformats.org/drawingml/2006/main">
              <a:ext uri="{FF2B5EF4-FFF2-40B4-BE49-F238E27FC236}">
                <a16:creationId xmlns:a16="http://schemas.microsoft.com/office/drawing/2014/main" id="{83B51565-587A-475D-8C89-3C65291AC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6191250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7534D"/>
                </a:solidFill>
              </a:defRPr>
            </a:pPr>
            <a:r>
              <a:rPr sz="1050" b="1">
                <a:solidFill>
                  <a:srgbClr val="57534D"/>
                </a:solidFill>
              </a:rPr>
              <a:t>02</a:t>
            </a:r>
          </a:p>
        </p:txBody>
      </p:sp>
      <p:sp>
        <p:nvSpPr>
          <p:cNvPr id="5" name="title-1">
            <a:extLst xmlns:a="http://schemas.openxmlformats.org/drawingml/2006/main">
              <a:ext uri="{FF2B5EF4-FFF2-40B4-BE49-F238E27FC236}">
                <a16:creationId xmlns:a16="http://schemas.microsoft.com/office/drawing/2014/main" id="{4E31B5DA-1FD9-43E4-B1E7-C06963EFF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90625"/>
            <a:ext cx="10382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02C22"/>
                </a:solidFill>
              </a:defRPr>
            </a:pPr>
            <a:r>
              <a:rPr sz="3150" b="1">
                <a:solidFill>
                  <a:srgbClr val="002C22"/>
                </a:solidFill>
              </a:rPr>
              <a:t>このプロジェクトは何を解決する？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A7A6C01-C88B-4E06-9903-F16738A4C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14625"/>
            <a:ext cx="10572750" cy="2476500"/>
          </a:xfrm>
          <a:prstGeom xmlns:a="http://schemas.openxmlformats.org/drawingml/2006/main" prst="roundRect">
            <a:avLst>
              <a:gd name="adj" fmla="val 4615"/>
            </a:avLst>
          </a:prstGeom>
          <a:solidFill xmlns:a="http://schemas.openxmlformats.org/drawingml/2006/main">
            <a:srgbClr val="ECFDF5"/>
          </a:solidFill>
          <a:ln xmlns:a="http://schemas.openxmlformats.org/drawingml/2006/main" w="9525">
            <a:solidFill>
              <a:srgbClr val="E7E5E4"/>
            </a:solidFill>
            <a:prstDash val="solid"/>
          </a:ln>
        </p:spPr>
      </p:sp>
      <p:sp>
        <p:nvSpPr>
          <p:cNvPr id="7" name="body-1">
            <a:extLst xmlns:a="http://schemas.openxmlformats.org/drawingml/2006/main">
              <a:ext uri="{FF2B5EF4-FFF2-40B4-BE49-F238E27FC236}">
                <a16:creationId xmlns:a16="http://schemas.microsoft.com/office/drawing/2014/main" id="{7E437655-AE0C-4171-B92E-F23D741DF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095625"/>
            <a:ext cx="9810750" cy="1762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>
                <a:solidFill>
                  <a:srgbClr val="002C22"/>
                </a:solidFill>
              </a:defRPr>
            </a:pPr>
            <a:r>
              <a:rPr sz="1950">
                <a:solidFill>
                  <a:srgbClr val="002C22"/>
                </a:solidFill>
              </a:rPr>
              <a:t>愛知・静岡のひとり動物カフェ専門アフィリエイトメディア</a:t>
            </a:r>
          </a:p>
        </p:txBody>
      </p:sp>
    </p:spTree>
    <p:extLst>
      <p:ext uri="{BB962C8B-B14F-4D97-AF65-F5344CB8AC3E}">
        <p14:creationId xmlns:p14="http://schemas.microsoft.com/office/powerpoint/2010/main" val="124069983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A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2B2D206-39F7-446C-B748-DF609F8E0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C22"/>
          </a:solidFill>
          <a:ln xmlns:a="http://schemas.openxmlformats.org/drawingml/2006/main" w="0">
            <a:solidFill>
              <a:srgbClr val="002C22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2C0B8D9-E17A-4561-8184-91C726722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6667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9A00"/>
          </a:solidFill>
          <a:ln xmlns:a="http://schemas.openxmlformats.org/drawingml/2006/main" w="0">
            <a:solidFill>
              <a:srgbClr val="FE9A00"/>
            </a:solidFill>
            <a:prstDash val="solid"/>
          </a:ln>
        </p:spPr>
      </p:sp>
      <p:sp>
        <p:nvSpPr>
          <p:cNvPr id="3" name="series-2">
            <a:extLst xmlns:a="http://schemas.openxmlformats.org/drawingml/2006/main">
              <a:ext uri="{FF2B5EF4-FFF2-40B4-BE49-F238E27FC236}">
                <a16:creationId xmlns:a16="http://schemas.microsoft.com/office/drawing/2014/main" id="{0B081919-BEE2-482C-8608-E17B1BC68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438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02C22"/>
                </a:solidFill>
              </a:defRPr>
            </a:pPr>
            <a:r>
              <a:rPr sz="1200" b="1">
                <a:solidFill>
                  <a:srgbClr val="002C22"/>
                </a:solidFill>
              </a:rPr>
              <a:t>積み上げログ  |  技術解説</a:t>
            </a:r>
          </a:p>
        </p:txBody>
      </p:sp>
      <p:sp>
        <p:nvSpPr>
          <p:cNvPr id="4" name="page-2">
            <a:extLst xmlns:a="http://schemas.openxmlformats.org/drawingml/2006/main">
              <a:ext uri="{FF2B5EF4-FFF2-40B4-BE49-F238E27FC236}">
                <a16:creationId xmlns:a16="http://schemas.microsoft.com/office/drawing/2014/main" id="{F12E64E0-FFE4-43FC-B9FC-C9CFC02C5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6191250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7534D"/>
                </a:solidFill>
              </a:defRPr>
            </a:pPr>
            <a:r>
              <a:rPr sz="1050" b="1">
                <a:solidFill>
                  <a:srgbClr val="57534D"/>
                </a:solidFill>
              </a:rPr>
              <a:t>03</a:t>
            </a:r>
          </a:p>
        </p:txBody>
      </p:sp>
      <p:sp>
        <p:nvSpPr>
          <p:cNvPr id="5" name="title-2">
            <a:extLst xmlns:a="http://schemas.openxmlformats.org/drawingml/2006/main">
              <a:ext uri="{FF2B5EF4-FFF2-40B4-BE49-F238E27FC236}">
                <a16:creationId xmlns:a16="http://schemas.microsoft.com/office/drawing/2014/main" id="{C70590DE-1566-44BF-941F-2C41DEFA5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90625"/>
            <a:ext cx="10382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02C22"/>
                </a:solidFill>
              </a:defRPr>
            </a:pPr>
            <a:r>
              <a:rPr sz="3150" b="1">
                <a:solidFill>
                  <a:srgbClr val="002C22"/>
                </a:solidFill>
              </a:rPr>
              <a:t>技術スタック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47CDE71-B0D8-4F51-AB5B-BE08C46EC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14625"/>
            <a:ext cx="10572750" cy="2476500"/>
          </a:xfrm>
          <a:prstGeom xmlns:a="http://schemas.openxmlformats.org/drawingml/2006/main" prst="roundRect">
            <a:avLst>
              <a:gd name="adj" fmla="val 4615"/>
            </a:avLst>
          </a:prstGeom>
          <a:solidFill xmlns:a="http://schemas.openxmlformats.org/drawingml/2006/main">
            <a:srgbClr val="ECFDF5"/>
          </a:solidFill>
          <a:ln xmlns:a="http://schemas.openxmlformats.org/drawingml/2006/main" w="9525">
            <a:solidFill>
              <a:srgbClr val="E7E5E4"/>
            </a:solidFill>
            <a:prstDash val="solid"/>
          </a:ln>
        </p:spPr>
      </p:sp>
      <p:sp>
        <p:nvSpPr>
          <p:cNvPr id="7" name="body-2">
            <a:extLst xmlns:a="http://schemas.openxmlformats.org/drawingml/2006/main">
              <a:ext uri="{FF2B5EF4-FFF2-40B4-BE49-F238E27FC236}">
                <a16:creationId xmlns:a16="http://schemas.microsoft.com/office/drawing/2014/main" id="{F419DEE5-E00F-4B45-8DD0-6F395727E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095625"/>
            <a:ext cx="9810750" cy="1762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>
                <a:solidFill>
                  <a:srgbClr val="002C22"/>
                </a:solidFill>
              </a:defRPr>
            </a:pPr>
            <a:r>
              <a:rPr sz="1950">
                <a:solidFill>
                  <a:srgbClr val="002C22"/>
                </a:solidFill>
              </a:rPr>
              <a:t>主要技術：HTML・CSS</a:t>
            </a:r>
          </a:p>
          <a:p xmlns:a="http://schemas.openxmlformats.org/drawingml/2006/main">
            <a:pPr>
              <a:defRPr sz="1950">
                <a:solidFill>
                  <a:srgbClr val="002C22"/>
                </a:solidFill>
              </a:defRPr>
            </a:pPr>
            <a:r>
              <a:rPr sz="1950">
                <a:solidFill>
                  <a:srgbClr val="002C22"/>
                </a:solidFill>
              </a:rPr>
              <a:t>役割を分け、保守しやすい構成を目指しています。</a:t>
            </a:r>
          </a:p>
        </p:txBody>
      </p:sp>
    </p:spTree>
    <p:extLst>
      <p:ext uri="{BB962C8B-B14F-4D97-AF65-F5344CB8AC3E}">
        <p14:creationId xmlns:p14="http://schemas.microsoft.com/office/powerpoint/2010/main" val="82591731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A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A4A8B4E-D388-4E78-8078-73B4F5AB8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C22"/>
          </a:solidFill>
          <a:ln xmlns:a="http://schemas.openxmlformats.org/drawingml/2006/main" w="0">
            <a:solidFill>
              <a:srgbClr val="002C22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08739CF-5C7F-4AF0-85CC-F5D7A4EBF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6667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9A00"/>
          </a:solidFill>
          <a:ln xmlns:a="http://schemas.openxmlformats.org/drawingml/2006/main" w="0">
            <a:solidFill>
              <a:srgbClr val="FE9A00"/>
            </a:solidFill>
            <a:prstDash val="solid"/>
          </a:ln>
        </p:spPr>
      </p:sp>
      <p:sp>
        <p:nvSpPr>
          <p:cNvPr id="3" name="series-3">
            <a:extLst xmlns:a="http://schemas.openxmlformats.org/drawingml/2006/main">
              <a:ext uri="{FF2B5EF4-FFF2-40B4-BE49-F238E27FC236}">
                <a16:creationId xmlns:a16="http://schemas.microsoft.com/office/drawing/2014/main" id="{33BA3B30-86A1-4219-A15A-F29EAA08D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438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02C22"/>
                </a:solidFill>
              </a:defRPr>
            </a:pPr>
            <a:r>
              <a:rPr sz="1200" b="1">
                <a:solidFill>
                  <a:srgbClr val="002C22"/>
                </a:solidFill>
              </a:rPr>
              <a:t>積み上げログ  |  技術解説</a:t>
            </a:r>
          </a:p>
        </p:txBody>
      </p:sp>
      <p:sp>
        <p:nvSpPr>
          <p:cNvPr id="4" name="page-3">
            <a:extLst xmlns:a="http://schemas.openxmlformats.org/drawingml/2006/main">
              <a:ext uri="{FF2B5EF4-FFF2-40B4-BE49-F238E27FC236}">
                <a16:creationId xmlns:a16="http://schemas.microsoft.com/office/drawing/2014/main" id="{BD3E4588-3C2F-430D-B8B7-D1CB966D2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6191250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7534D"/>
                </a:solidFill>
              </a:defRPr>
            </a:pPr>
            <a:r>
              <a:rPr sz="1050" b="1">
                <a:solidFill>
                  <a:srgbClr val="57534D"/>
                </a:solidFill>
              </a:rPr>
              <a:t>04</a:t>
            </a:r>
          </a:p>
        </p:txBody>
      </p:sp>
      <p:sp>
        <p:nvSpPr>
          <p:cNvPr id="5" name="title-3">
            <a:extLst xmlns:a="http://schemas.openxmlformats.org/drawingml/2006/main">
              <a:ext uri="{FF2B5EF4-FFF2-40B4-BE49-F238E27FC236}">
                <a16:creationId xmlns:a16="http://schemas.microsoft.com/office/drawing/2014/main" id="{D2674A48-A939-4D5B-8C95-AB38A929F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90625"/>
            <a:ext cx="10382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02C22"/>
                </a:solidFill>
              </a:defRPr>
            </a:pPr>
            <a:r>
              <a:rPr sz="3150" b="1">
                <a:solidFill>
                  <a:srgbClr val="002C22"/>
                </a:solidFill>
              </a:rPr>
              <a:t>リポジトリの読みどころ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8A66DC8-323C-4EE2-9F79-61717897D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14625"/>
            <a:ext cx="10572750" cy="2476500"/>
          </a:xfrm>
          <a:prstGeom xmlns:a="http://schemas.openxmlformats.org/drawingml/2006/main" prst="roundRect">
            <a:avLst>
              <a:gd name="adj" fmla="val 4615"/>
            </a:avLst>
          </a:prstGeom>
          <a:solidFill xmlns:a="http://schemas.openxmlformats.org/drawingml/2006/main">
            <a:srgbClr val="ECFDF5"/>
          </a:solidFill>
          <a:ln xmlns:a="http://schemas.openxmlformats.org/drawingml/2006/main" w="9525">
            <a:solidFill>
              <a:srgbClr val="E7E5E4"/>
            </a:solidFill>
            <a:prstDash val="solid"/>
          </a:ln>
        </p:spPr>
      </p:sp>
      <p:sp>
        <p:nvSpPr>
          <p:cNvPr id="7" name="body-3">
            <a:extLst xmlns:a="http://schemas.openxmlformats.org/drawingml/2006/main">
              <a:ext uri="{FF2B5EF4-FFF2-40B4-BE49-F238E27FC236}">
                <a16:creationId xmlns:a16="http://schemas.microsoft.com/office/drawing/2014/main" id="{BCF07F33-E218-453A-993E-0E62CE2C1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095625"/>
            <a:ext cx="9810750" cy="1762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>
                <a:solidFill>
                  <a:srgbClr val="002C22"/>
                </a:solidFill>
              </a:defRPr>
            </a:pPr>
            <a:r>
              <a:rPr sz="1950">
                <a:solidFill>
                  <a:srgbClr val="002C22"/>
                </a:solidFill>
              </a:rPr>
              <a:t>公開コード、README、コミット履歴から設計判断を確認できます。</a:t>
            </a:r>
          </a:p>
          <a:p xmlns:a="http://schemas.openxmlformats.org/drawingml/2006/main">
            <a:pPr>
              <a:defRPr sz="1950">
                <a:solidFill>
                  <a:srgbClr val="002C22"/>
                </a:solidFill>
              </a:defRPr>
            </a:pPr>
            <a:r>
              <a:rPr sz="1950">
                <a:solidFill>
                  <a:srgbClr val="002C22"/>
                </a:solidFill>
              </a:rPr>
              <a:t>主なファイル：public、wrangler.toml</a:t>
            </a:r>
          </a:p>
        </p:txBody>
      </p:sp>
    </p:spTree>
    <p:extLst>
      <p:ext uri="{BB962C8B-B14F-4D97-AF65-F5344CB8AC3E}">
        <p14:creationId xmlns:p14="http://schemas.microsoft.com/office/powerpoint/2010/main" val="20677040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A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7328648-513F-4DA9-8FFF-C169258EB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C22"/>
          </a:solidFill>
          <a:ln xmlns:a="http://schemas.openxmlformats.org/drawingml/2006/main" w="0">
            <a:solidFill>
              <a:srgbClr val="002C22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A9D03B4-6D89-4898-811E-1DB94B6BE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6667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9A00"/>
          </a:solidFill>
          <a:ln xmlns:a="http://schemas.openxmlformats.org/drawingml/2006/main" w="0">
            <a:solidFill>
              <a:srgbClr val="FE9A00"/>
            </a:solidFill>
            <a:prstDash val="solid"/>
          </a:ln>
        </p:spPr>
      </p:sp>
      <p:sp>
        <p:nvSpPr>
          <p:cNvPr id="3" name="series-4">
            <a:extLst xmlns:a="http://schemas.openxmlformats.org/drawingml/2006/main">
              <a:ext uri="{FF2B5EF4-FFF2-40B4-BE49-F238E27FC236}">
                <a16:creationId xmlns:a16="http://schemas.microsoft.com/office/drawing/2014/main" id="{374CADDA-4599-44A6-AEE4-48AA30590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438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02C22"/>
                </a:solidFill>
              </a:defRPr>
            </a:pPr>
            <a:r>
              <a:rPr sz="1200" b="1">
                <a:solidFill>
                  <a:srgbClr val="002C22"/>
                </a:solidFill>
              </a:rPr>
              <a:t>積み上げログ  |  技術解説</a:t>
            </a:r>
          </a:p>
        </p:txBody>
      </p:sp>
      <p:sp>
        <p:nvSpPr>
          <p:cNvPr id="4" name="page-4">
            <a:extLst xmlns:a="http://schemas.openxmlformats.org/drawingml/2006/main">
              <a:ext uri="{FF2B5EF4-FFF2-40B4-BE49-F238E27FC236}">
                <a16:creationId xmlns:a16="http://schemas.microsoft.com/office/drawing/2014/main" id="{0B65D235-EBE1-4B35-B745-C927955FF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6191250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7534D"/>
                </a:solidFill>
              </a:defRPr>
            </a:pPr>
            <a:r>
              <a:rPr sz="1050" b="1">
                <a:solidFill>
                  <a:srgbClr val="57534D"/>
                </a:solidFill>
              </a:rPr>
              <a:t>05</a:t>
            </a:r>
          </a:p>
        </p:txBody>
      </p:sp>
      <p:sp>
        <p:nvSpPr>
          <p:cNvPr id="5" name="title-4">
            <a:extLst xmlns:a="http://schemas.openxmlformats.org/drawingml/2006/main">
              <a:ext uri="{FF2B5EF4-FFF2-40B4-BE49-F238E27FC236}">
                <a16:creationId xmlns:a16="http://schemas.microsoft.com/office/drawing/2014/main" id="{1DBDF218-E15D-4EAC-A815-7F2162428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90625"/>
            <a:ext cx="10382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02C22"/>
                </a:solidFill>
              </a:defRPr>
            </a:pPr>
            <a:r>
              <a:rPr sz="3150" b="1">
                <a:solidFill>
                  <a:srgbClr val="002C22"/>
                </a:solidFill>
              </a:rPr>
              <a:t>コミットから分かる改善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8D4FDF2-9FF1-40D5-A9B0-B81DF96A9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14625"/>
            <a:ext cx="10572750" cy="2476500"/>
          </a:xfrm>
          <a:prstGeom xmlns:a="http://schemas.openxmlformats.org/drawingml/2006/main" prst="roundRect">
            <a:avLst>
              <a:gd name="adj" fmla="val 4615"/>
            </a:avLst>
          </a:prstGeom>
          <a:solidFill xmlns:a="http://schemas.openxmlformats.org/drawingml/2006/main">
            <a:srgbClr val="ECFDF5"/>
          </a:solidFill>
          <a:ln xmlns:a="http://schemas.openxmlformats.org/drawingml/2006/main" w="9525">
            <a:solidFill>
              <a:srgbClr val="E7E5E4"/>
            </a:solidFill>
            <a:prstDash val="solid"/>
          </a:ln>
        </p:spPr>
      </p:sp>
      <p:sp>
        <p:nvSpPr>
          <p:cNvPr id="7" name="body-4">
            <a:extLst xmlns:a="http://schemas.openxmlformats.org/drawingml/2006/main">
              <a:ext uri="{FF2B5EF4-FFF2-40B4-BE49-F238E27FC236}">
                <a16:creationId xmlns:a16="http://schemas.microsoft.com/office/drawing/2014/main" id="{AF118602-4D9D-41BE-822A-C2EE978A5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095625"/>
            <a:ext cx="9810750" cy="1762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>
                <a:solidFill>
                  <a:srgbClr val="002C22"/>
                </a:solidFill>
              </a:defRPr>
            </a:pPr>
            <a:r>
              <a:rPr sz="1950">
                <a:solidFill>
                  <a:srgbClr val="002C22"/>
                </a:solidFill>
              </a:rPr>
              <a:t>直近のコミットでは、実装の見直しと継続的な改善が行われました。</a:t>
            </a:r>
          </a:p>
        </p:txBody>
      </p:sp>
    </p:spTree>
    <p:extLst>
      <p:ext uri="{BB962C8B-B14F-4D97-AF65-F5344CB8AC3E}">
        <p14:creationId xmlns:p14="http://schemas.microsoft.com/office/powerpoint/2010/main" val="136338760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A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67B19E7-4602-4E23-BFBE-68555A7BA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C22"/>
          </a:solidFill>
          <a:ln xmlns:a="http://schemas.openxmlformats.org/drawingml/2006/main" w="0">
            <a:solidFill>
              <a:srgbClr val="002C22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2C7551A-93E5-46EE-AF18-E50F95568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6667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9A00"/>
          </a:solidFill>
          <a:ln xmlns:a="http://schemas.openxmlformats.org/drawingml/2006/main" w="0">
            <a:solidFill>
              <a:srgbClr val="FE9A00"/>
            </a:solidFill>
            <a:prstDash val="solid"/>
          </a:ln>
        </p:spPr>
      </p:sp>
      <p:sp>
        <p:nvSpPr>
          <p:cNvPr id="3" name="series-5">
            <a:extLst xmlns:a="http://schemas.openxmlformats.org/drawingml/2006/main">
              <a:ext uri="{FF2B5EF4-FFF2-40B4-BE49-F238E27FC236}">
                <a16:creationId xmlns:a16="http://schemas.microsoft.com/office/drawing/2014/main" id="{7A550FD1-BEA1-40E0-B705-C5187956E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438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02C22"/>
                </a:solidFill>
              </a:defRPr>
            </a:pPr>
            <a:r>
              <a:rPr sz="1200" b="1">
                <a:solidFill>
                  <a:srgbClr val="002C22"/>
                </a:solidFill>
              </a:rPr>
              <a:t>積み上げログ  |  技術解説</a:t>
            </a:r>
          </a:p>
        </p:txBody>
      </p:sp>
      <p:sp>
        <p:nvSpPr>
          <p:cNvPr id="4" name="page-5">
            <a:extLst xmlns:a="http://schemas.openxmlformats.org/drawingml/2006/main">
              <a:ext uri="{FF2B5EF4-FFF2-40B4-BE49-F238E27FC236}">
                <a16:creationId xmlns:a16="http://schemas.microsoft.com/office/drawing/2014/main" id="{0A6BD0D4-8F36-498D-94BF-97FE40CBA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6191250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7534D"/>
                </a:solidFill>
              </a:defRPr>
            </a:pPr>
            <a:r>
              <a:rPr sz="1050" b="1">
                <a:solidFill>
                  <a:srgbClr val="57534D"/>
                </a:solidFill>
              </a:rPr>
              <a:t>06</a:t>
            </a:r>
          </a:p>
        </p:txBody>
      </p:sp>
      <p:sp>
        <p:nvSpPr>
          <p:cNvPr id="5" name="title-5">
            <a:extLst xmlns:a="http://schemas.openxmlformats.org/drawingml/2006/main">
              <a:ext uri="{FF2B5EF4-FFF2-40B4-BE49-F238E27FC236}">
                <a16:creationId xmlns:a16="http://schemas.microsoft.com/office/drawing/2014/main" id="{D9473429-E1EC-424E-8A0B-80F396C43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90625"/>
            <a:ext cx="10382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02C22"/>
                </a:solidFill>
              </a:defRPr>
            </a:pPr>
            <a:r>
              <a:rPr sz="3150" b="1">
                <a:solidFill>
                  <a:srgbClr val="002C22"/>
                </a:solidFill>
              </a:rPr>
              <a:t>詳しくは積み上げログへ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EE95ABD-E131-4F19-83D4-8E36DFF6A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14625"/>
            <a:ext cx="10572750" cy="2476500"/>
          </a:xfrm>
          <a:prstGeom xmlns:a="http://schemas.openxmlformats.org/drawingml/2006/main" prst="roundRect">
            <a:avLst>
              <a:gd name="adj" fmla="val 4615"/>
            </a:avLst>
          </a:prstGeom>
          <a:solidFill xmlns:a="http://schemas.openxmlformats.org/drawingml/2006/main">
            <a:srgbClr val="ECFDF5"/>
          </a:solidFill>
          <a:ln xmlns:a="http://schemas.openxmlformats.org/drawingml/2006/main" w="9525">
            <a:solidFill>
              <a:srgbClr val="E7E5E4"/>
            </a:solidFill>
            <a:prstDash val="solid"/>
          </a:ln>
        </p:spPr>
      </p:sp>
      <p:sp>
        <p:nvSpPr>
          <p:cNvPr id="7" name="body-5">
            <a:extLst xmlns:a="http://schemas.openxmlformats.org/drawingml/2006/main">
              <a:ext uri="{FF2B5EF4-FFF2-40B4-BE49-F238E27FC236}">
                <a16:creationId xmlns:a16="http://schemas.microsoft.com/office/drawing/2014/main" id="{76DDC107-3724-4DB6-8A9C-D3D548E3E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095625"/>
            <a:ext cx="9810750" cy="1762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>
                <a:solidFill>
                  <a:srgbClr val="002C22"/>
                </a:solidFill>
              </a:defRPr>
            </a:pPr>
            <a:r>
              <a:rPr sz="1950">
                <a:solidFill>
                  <a:srgbClr val="002C22"/>
                </a:solidFill>
              </a:rPr>
              <a:t>記事： https://syunnjack.dev/articles/mofumofu-tokai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>
                <a:solidFill>
                  <a:srgbClr val="002C22"/>
                </a:solidFill>
              </a:defRPr>
            </a:pPr>
            <a:r>
              <a:rPr sz="1950">
                <a:solidFill>
                  <a:srgbClr val="002C22"/>
                </a:solidFill>
              </a:rPr>
              <a:t>学び、作り、振り返る開発記録。</a:t>
            </a:r>
          </a:p>
        </p:txBody>
      </p:sp>
    </p:spTree>
    <p:extLst>
      <p:ext uri="{BB962C8B-B14F-4D97-AF65-F5344CB8AC3E}">
        <p14:creationId xmlns:p14="http://schemas.microsoft.com/office/powerpoint/2010/main" val="92730594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2026-08-11T12:12:05.2350000Z</dcterms:created>
  <dcterms:modified xsi:type="dcterms:W3CDTF">2026-08-11T12:12:05.2360000Z</dcterms:modified>
</coreProperties>
</file>