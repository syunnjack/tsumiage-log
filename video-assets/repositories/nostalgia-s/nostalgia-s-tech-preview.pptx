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f866d92ae3456e" /><Relationship Type="http://schemas.openxmlformats.org/officeDocument/2006/relationships/extended-properties" Target="/docProps/app.xml" Id="Rd2a17673ad1a4f67" /><Relationship Type="http://schemas.openxmlformats.org/officeDocument/2006/relationships/officeDocument" Target="/ppt/presentation.xml" Id="Rdc85388b63b84020" /></Relationships>
</file>

<file path=ppt/presentation.xml><?xml version="1.0" encoding="utf-8"?>
<p:presentation xmlns:p="http://schemas.openxmlformats.org/presentationml/2006/main">
  <p:sldMasterIdLst>
    <p:sldMasterId xmlns:r="http://schemas.openxmlformats.org/officeDocument/2006/relationships" id="2147483648" r:id="R7c289024c08d45b2"/>
  </p:sldMasterIdLst>
  <p:notesMasterIdLst>
    <p:notesMasterId xmlns:r="http://schemas.openxmlformats.org/officeDocument/2006/relationships" r:id="Re2693a3e5def4e55"/>
  </p:notesMasterIdLst>
  <p:sldIdLst>
    <p:sldId xmlns:r="http://schemas.openxmlformats.org/officeDocument/2006/relationships" id="256" r:id="R6fc0e432be8a4b34"/>
    <p:sldId xmlns:r="http://schemas.openxmlformats.org/officeDocument/2006/relationships" id="257" r:id="R546740f5e3074c3d"/>
    <p:sldId xmlns:r="http://schemas.openxmlformats.org/officeDocument/2006/relationships" id="258" r:id="R80bdb5f9e2e7405e"/>
    <p:sldId xmlns:r="http://schemas.openxmlformats.org/officeDocument/2006/relationships" id="259" r:id="R98be87b0bc85471c"/>
    <p:sldId xmlns:r="http://schemas.openxmlformats.org/officeDocument/2006/relationships" id="260" r:id="R4111b1aaf27e4b28"/>
    <p:sldId xmlns:r="http://schemas.openxmlformats.org/officeDocument/2006/relationships" id="261" r:id="R3203805dc7a745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47a045539342ff" /><Relationship Type="http://schemas.openxmlformats.org/officeDocument/2006/relationships/slideMaster" Target="/ppt/slideMasters/slideMaster1.xml" Id="R7c289024c08d45b2" /><Relationship Type="http://schemas.openxmlformats.org/officeDocument/2006/relationships/notesMaster" Target="/ppt/notesMasters/notesMaster1.xml" Id="Re2693a3e5def4e55" /><Relationship Type="http://schemas.openxmlformats.org/officeDocument/2006/relationships/presProps" Target="/ppt/presProps.xml" Id="R363dca3bf5a348cc" /><Relationship Type="http://schemas.openxmlformats.org/officeDocument/2006/relationships/tableStyles" Target="/ppt/tableStyles.xml" Id="R9d733f42a08c4d5b" /><Relationship Type="http://schemas.openxmlformats.org/officeDocument/2006/relationships/slide" Target="/ppt/slides/slide1.xml" Id="R6fc0e432be8a4b34" /><Relationship Type="http://schemas.openxmlformats.org/officeDocument/2006/relationships/slide" Target="/ppt/slides/slide2.xml" Id="R546740f5e3074c3d" /><Relationship Type="http://schemas.openxmlformats.org/officeDocument/2006/relationships/slide" Target="/ppt/slides/slide3.xml" Id="R80bdb5f9e2e7405e" /><Relationship Type="http://schemas.openxmlformats.org/officeDocument/2006/relationships/slide" Target="/ppt/slides/slide4.xml" Id="R98be87b0bc85471c" /><Relationship Type="http://schemas.openxmlformats.org/officeDocument/2006/relationships/slide" Target="/ppt/slides/slide5.xml" Id="R4111b1aaf27e4b28" /><Relationship Type="http://schemas.openxmlformats.org/officeDocument/2006/relationships/slide" Target="/ppt/slides/slide6.xml" Id="R3203805dc7a745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ddad71f18f49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f6c4f7f7704f85" /><Relationship Type="http://schemas.openxmlformats.org/officeDocument/2006/relationships/notesMaster" Target="/ppt/notesMasters/notesMaster1.xml" Id="Rff4b5135690c4b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a5defab4fb4a30" /><Relationship Type="http://schemas.openxmlformats.org/officeDocument/2006/relationships/notesMaster" Target="/ppt/notesMasters/notesMaster1.xml" Id="R782473ff632c45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3e4d63a6c7484f" /><Relationship Type="http://schemas.openxmlformats.org/officeDocument/2006/relationships/notesMaster" Target="/ppt/notesMasters/notesMaster1.xml" Id="Rfec0fd39943f40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ab9443904a42ca" /><Relationship Type="http://schemas.openxmlformats.org/officeDocument/2006/relationships/notesMaster" Target="/ppt/notesMasters/notesMaster1.xml" Id="Reaf224572f8f4a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afcdf612fc4581" /><Relationship Type="http://schemas.openxmlformats.org/officeDocument/2006/relationships/notesMaster" Target="/ppt/notesMasters/notesMaster1.xml" Id="Rc6d9d2ec936a4d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03e46620364eb6" /><Relationship Type="http://schemas.openxmlformats.org/officeDocument/2006/relationships/notesMaster" Target="/ppt/notesMasters/notesMaster1.xml" Id="Rbba56caf679f41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今回は、Nostalgia Sの技術構成を短く解説します。</a:t>
            </a:r>
          </a:p>
          <a:p xmlns:a="http://schemas.openxmlformats.org/drawingml/2006/main">
            <a:r>
              <a:t/>
            </a:r>
          </a:p>
          <a:p xmlns:a="http://schemas.openxmlformats.org/drawingml/2006/main">
            <a:r>
              <a:t>[Sources]</a:t>
            </a:r>
          </a:p>
          <a:p xmlns:a="http://schemas.openxmlformats.org/drawingml/2006/main">
            <a:r>
              <a:t>- https://github.com/syunnjack/Nostalgia-s</a:t>
            </a:r>
          </a:p>
          <a:p xmlns:a="http://schemas.openxmlformats.org/drawingml/2006/main">
            <a:r>
              <a:t>- https://syunnjack.dev/articles/nostalgia-s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昭和ノスタルジア 昭和の暮らしの手ざわりを書き留め、その名残がいまも残る全国のレトロスポットをたどる静的サイトです</a:t>
            </a:r>
          </a:p>
          <a:p xmlns:a="http://schemas.openxmlformats.org/drawingml/2006/main">
            <a:r>
              <a:t/>
            </a:r>
          </a:p>
          <a:p xmlns:a="http://schemas.openxmlformats.org/drawingml/2006/main">
            <a:r>
              <a:t>[Sources]</a:t>
            </a:r>
          </a:p>
          <a:p xmlns:a="http://schemas.openxmlformats.org/drawingml/2006/main">
            <a:r>
              <a:t>- https://github.com/syunnjack/Nostalgia-s</a:t>
            </a:r>
          </a:p>
          <a:p xmlns:a="http://schemas.openxmlformats.org/drawingml/2006/main">
            <a:r>
              <a:t>- https://syunnjack.dev/articles/nostalgia-s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主な技術はAstroです。役割を分け、保守しやすい構成を目指しています。</a:t>
            </a:r>
          </a:p>
          <a:p xmlns:a="http://schemas.openxmlformats.org/drawingml/2006/main">
            <a:r>
              <a:t/>
            </a:r>
          </a:p>
          <a:p xmlns:a="http://schemas.openxmlformats.org/drawingml/2006/main">
            <a:r>
              <a:t>[Sources]</a:t>
            </a:r>
          </a:p>
          <a:p xmlns:a="http://schemas.openxmlformats.org/drawingml/2006/main">
            <a:r>
              <a:t>- https://github.com/syunnjack/Nostalgia-s</a:t>
            </a:r>
          </a:p>
          <a:p xmlns:a="http://schemas.openxmlformats.org/drawingml/2006/main">
            <a:r>
              <a:t>- https://syunnjack.dev/articles/nostalgia-s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リポジトリでは、主要なソースファイルを中心に実装を確認できます。</a:t>
            </a:r>
          </a:p>
          <a:p xmlns:a="http://schemas.openxmlformats.org/drawingml/2006/main">
            <a:r>
              <a:t/>
            </a:r>
          </a:p>
          <a:p xmlns:a="http://schemas.openxmlformats.org/drawingml/2006/main">
            <a:r>
              <a:t>[Sources]</a:t>
            </a:r>
          </a:p>
          <a:p xmlns:a="http://schemas.openxmlformats.org/drawingml/2006/main">
            <a:r>
              <a:t>- https://github.com/syunnjack/Nostalgia-s</a:t>
            </a:r>
          </a:p>
          <a:p xmlns:a="http://schemas.openxmlformats.org/drawingml/2006/main">
            <a:r>
              <a:t>- https://syunnjack.dev/articles/nostalgia-s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直近のコミットでは、実装の見直しと継続的な改善が行われました。</a:t>
            </a:r>
          </a:p>
          <a:p xmlns:a="http://schemas.openxmlformats.org/drawingml/2006/main">
            <a:r>
              <a:t/>
            </a:r>
          </a:p>
          <a:p xmlns:a="http://schemas.openxmlformats.org/drawingml/2006/main">
            <a:r>
              <a:t>[Sources]</a:t>
            </a:r>
          </a:p>
          <a:p xmlns:a="http://schemas.openxmlformats.org/drawingml/2006/main">
            <a:r>
              <a:t>- https://github.com/syunnjack/Nostalgia-s</a:t>
            </a:r>
          </a:p>
          <a:p xmlns:a="http://schemas.openxmlformats.org/drawingml/2006/main">
            <a:r>
              <a:t>- https://syunnjack.dev/articles/nostalgia-s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詳しい設計とコミット履歴は、技術ブログ積み上げログの記事で紹介しています。</a:t>
            </a:r>
          </a:p>
          <a:p xmlns:a="http://schemas.openxmlformats.org/drawingml/2006/main">
            <a:r>
              <a:t/>
            </a:r>
          </a:p>
          <a:p xmlns:a="http://schemas.openxmlformats.org/drawingml/2006/main">
            <a:r>
              <a:t>[Sources]</a:t>
            </a:r>
          </a:p>
          <a:p xmlns:a="http://schemas.openxmlformats.org/drawingml/2006/main">
            <a:r>
              <a:t>- https://github.com/syunnjack/Nostalgia-s</a:t>
            </a:r>
          </a:p>
          <a:p xmlns:a="http://schemas.openxmlformats.org/drawingml/2006/main">
            <a:r>
              <a:t>- https://syunnjack.dev/articles/nostalgia-s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8c0a7aa0a842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5f2055125d4228" /><Relationship Type="http://schemas.openxmlformats.org/officeDocument/2006/relationships/slideLayout" Target="/ppt/slideLayouts/slideLayout1.xml" Id="R6738be1ca06f47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38be1ca06f47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5d19aabf2d4b78" /><Relationship Type="http://schemas.openxmlformats.org/officeDocument/2006/relationships/notesSlide" Target="/ppt/notesSlides/notesSlide1.xml" Id="Rbdfa6eebf98f4e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b82d98376b4fe3" /><Relationship Type="http://schemas.openxmlformats.org/officeDocument/2006/relationships/notesSlide" Target="/ppt/notesSlides/notesSlide2.xml" Id="R9cbf567f451f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ef1589c5844f2b" /><Relationship Type="http://schemas.openxmlformats.org/officeDocument/2006/relationships/notesSlide" Target="/ppt/notesSlides/notesSlide3.xml" Id="R0dc52a5b057e40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253456b1db44af" /><Relationship Type="http://schemas.openxmlformats.org/officeDocument/2006/relationships/notesSlide" Target="/ppt/notesSlides/notesSlide4.xml" Id="R917fcaa7ed6144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29c3fd87954129" /><Relationship Type="http://schemas.openxmlformats.org/officeDocument/2006/relationships/notesSlide" Target="/ppt/notesSlides/notesSlide5.xml" Id="Rb03c92f8712f4d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3f747e71644126" /><Relationship Type="http://schemas.openxmlformats.org/officeDocument/2006/relationships/notesSlide" Target="/ppt/notesSlides/notesSlide6.xml" Id="R894aab68ad38423d" /></Relationships>
</file>

<file path=ppt/slides/slide1.xml><?xml version="1.0" encoding="utf-8"?>
<p:sld xmlns:p="http://schemas.openxmlformats.org/presentationml/2006/main">
  <p:cSld>
    <p:bg>
      <p:bgPr>
        <a:solidFill xmlns:a="http://schemas.openxmlformats.org/drawingml/2006/main">
          <a:srgbClr val="FA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CD5E39-4FB8-45F4-8A10-E1FD3B6604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2C22"/>
          </a:solidFill>
          <a:ln xmlns:a="http://schemas.openxmlformats.org/drawingml/2006/main" w="0">
            <a:solidFill>
              <a:srgbClr val="002C22"/>
            </a:solidFill>
            <a:prstDash val="solid"/>
          </a:ln>
        </p:spPr>
      </p:sp>
      <p:sp>
        <p:nvSpPr>
          <p:cNvPr id="2" name="">
            <a:extLst xmlns:a="http://schemas.openxmlformats.org/drawingml/2006/main">
              <a:ext uri="{FF2B5EF4-FFF2-40B4-BE49-F238E27FC236}">
                <a16:creationId xmlns:a16="http://schemas.microsoft.com/office/drawing/2014/main" id="{84808CD8-7F82-4308-B998-3B7653957D40}"/>
              </a:ext>
            </a:extLst>
          </p:cNvPr>
          <p:cNvSpPr>
            <a:spLocks xmlns:a="http://schemas.openxmlformats.org/drawingml/2006/main" noGrp="1"/>
          </p:cNvSpPr>
          <p:nvPr/>
        </p:nvSpPr>
        <p:spPr>
          <a:xfrm xmlns:a="http://schemas.openxmlformats.org/drawingml/2006/main">
            <a:off x="685800" y="742950"/>
            <a:ext cx="666750" cy="66675"/>
          </a:xfrm>
          <a:prstGeom xmlns:a="http://schemas.openxmlformats.org/drawingml/2006/main" prst="rect">
            <a:avLst/>
          </a:prstGeom>
          <a:solidFill xmlns:a="http://schemas.openxmlformats.org/drawingml/2006/main">
            <a:srgbClr val="FE9A00"/>
          </a:solidFill>
          <a:ln xmlns:a="http://schemas.openxmlformats.org/drawingml/2006/main" w="0">
            <a:solidFill>
              <a:srgbClr val="FE9A00"/>
            </a:solidFill>
            <a:prstDash val="solid"/>
          </a:ln>
        </p:spPr>
      </p:sp>
      <p:sp>
        <p:nvSpPr>
          <p:cNvPr id="3" name="series-0">
            <a:extLst xmlns:a="http://schemas.openxmlformats.org/drawingml/2006/main">
              <a:ext uri="{FF2B5EF4-FFF2-40B4-BE49-F238E27FC236}">
                <a16:creationId xmlns:a16="http://schemas.microsoft.com/office/drawing/2014/main" id="{18E28DDC-83A7-4740-95AD-3AAC23A67AAF}"/>
              </a:ext>
            </a:extLst>
          </p:cNvPr>
          <p:cNvSpPr>
            <a:spLocks xmlns:a="http://schemas.openxmlformats.org/drawingml/2006/main" noGrp="1"/>
          </p:cNvSpPr>
          <p:nvPr/>
        </p:nvSpPr>
        <p:spPr>
          <a:xfrm xmlns:a="http://schemas.openxmlformats.org/drawingml/2006/main">
            <a:off x="685800" y="3619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02C22"/>
                </a:solidFill>
              </a:defRPr>
            </a:pPr>
            <a:r>
              <a:rPr sz="1200" b="1">
                <a:solidFill>
                  <a:srgbClr val="002C22"/>
                </a:solidFill>
              </a:rPr>
              <a:t>積み上げログ  |  技術解説</a:t>
            </a:r>
          </a:p>
        </p:txBody>
      </p:sp>
      <p:sp>
        <p:nvSpPr>
          <p:cNvPr id="4" name="page-0">
            <a:extLst xmlns:a="http://schemas.openxmlformats.org/drawingml/2006/main">
              <a:ext uri="{FF2B5EF4-FFF2-40B4-BE49-F238E27FC236}">
                <a16:creationId xmlns:a16="http://schemas.microsoft.com/office/drawing/2014/main" id="{34548FE8-314F-4C6E-BB84-EBEF7456EBE8}"/>
              </a:ext>
            </a:extLst>
          </p:cNvPr>
          <p:cNvSpPr>
            <a:spLocks xmlns:a="http://schemas.openxmlformats.org/drawingml/2006/main" noGrp="1"/>
          </p:cNvSpPr>
          <p:nvPr/>
        </p:nvSpPr>
        <p:spPr>
          <a:xfrm xmlns:a="http://schemas.openxmlformats.org/drawingml/2006/main">
            <a:off x="10782300" y="6191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7534D"/>
                </a:solidFill>
              </a:defRPr>
            </a:pPr>
            <a:r>
              <a:rPr sz="1050" b="1">
                <a:solidFill>
                  <a:srgbClr val="57534D"/>
                </a:solidFill>
              </a:rPr>
              <a:t>01</a:t>
            </a:r>
          </a:p>
        </p:txBody>
      </p:sp>
      <p:sp>
        <p:nvSpPr>
          <p:cNvPr id="5" name="title">
            <a:extLst xmlns:a="http://schemas.openxmlformats.org/drawingml/2006/main">
              <a:ext uri="{FF2B5EF4-FFF2-40B4-BE49-F238E27FC236}">
                <a16:creationId xmlns:a16="http://schemas.microsoft.com/office/drawing/2014/main" id="{137158D4-0498-4A77-9187-F3111E5ADAB9}"/>
              </a:ext>
            </a:extLst>
          </p:cNvPr>
          <p:cNvSpPr>
            <a:spLocks xmlns:a="http://schemas.openxmlformats.org/drawingml/2006/main" noGrp="1"/>
          </p:cNvSpPr>
          <p:nvPr/>
        </p:nvSpPr>
        <p:spPr>
          <a:xfrm xmlns:a="http://schemas.openxmlformats.org/drawingml/2006/main">
            <a:off x="685800" y="171450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350" b="1">
                <a:solidFill>
                  <a:srgbClr val="002C22"/>
                </a:solidFill>
              </a:defRPr>
            </a:pPr>
            <a:r>
              <a:rPr sz="4350" b="1">
                <a:solidFill>
                  <a:srgbClr val="002C22"/>
                </a:solidFill>
              </a:rPr>
              <a:t>Nostalgia Sの技術解説</a:t>
            </a:r>
          </a:p>
        </p:txBody>
      </p:sp>
      <p:sp>
        <p:nvSpPr>
          <p:cNvPr id="6" name="subtitle">
            <a:extLst xmlns:a="http://schemas.openxmlformats.org/drawingml/2006/main">
              <a:ext uri="{FF2B5EF4-FFF2-40B4-BE49-F238E27FC236}">
                <a16:creationId xmlns:a16="http://schemas.microsoft.com/office/drawing/2014/main" id="{A6E94C71-D03E-499C-9BBA-59F30FA95E39}"/>
              </a:ext>
            </a:extLst>
          </p:cNvPr>
          <p:cNvSpPr>
            <a:spLocks xmlns:a="http://schemas.openxmlformats.org/drawingml/2006/main" noGrp="1"/>
          </p:cNvSpPr>
          <p:nvPr/>
        </p:nvSpPr>
        <p:spPr>
          <a:xfrm xmlns:a="http://schemas.openxmlformats.org/drawingml/2006/main">
            <a:off x="723900" y="3429000"/>
            <a:ext cx="895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a:solidFill>
                  <a:srgbClr val="57534D"/>
                </a:solidFill>
              </a:defRPr>
            </a:pPr>
            <a:r>
              <a:rPr sz="1875">
                <a:solidFill>
                  <a:srgbClr val="57534D"/>
                </a:solidFill>
              </a:rPr>
              <a:t>設計・実装・コミットから学ぶ短時間の技術解説</a:t>
            </a:r>
          </a:p>
        </p:txBody>
      </p:sp>
      <p:sp>
        <p:nvSpPr>
          <p:cNvPr id="7" name="language">
            <a:extLst xmlns:a="http://schemas.openxmlformats.org/drawingml/2006/main">
              <a:ext uri="{FF2B5EF4-FFF2-40B4-BE49-F238E27FC236}">
                <a16:creationId xmlns:a16="http://schemas.microsoft.com/office/drawing/2014/main" id="{F51E20F8-1CD9-4EC5-A692-047CDD52B891}"/>
              </a:ext>
            </a:extLst>
          </p:cNvPr>
          <p:cNvSpPr>
            <a:spLocks xmlns:a="http://schemas.openxmlformats.org/drawingml/2006/main" noGrp="1"/>
          </p:cNvSpPr>
          <p:nvPr/>
        </p:nvSpPr>
        <p:spPr>
          <a:xfrm xmlns:a="http://schemas.openxmlformats.org/drawingml/2006/main">
            <a:off x="723900" y="47625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E9A00"/>
                </a:solidFill>
              </a:defRPr>
            </a:pPr>
            <a:r>
              <a:rPr sz="1500" b="1">
                <a:solidFill>
                  <a:srgbClr val="FE9A00"/>
                </a:solidFill>
              </a:rPr>
              <a:t>Astro</a:t>
            </a:r>
          </a:p>
        </p:txBody>
      </p:sp>
    </p:spTree>
    <p:extLst>
      <p:ext uri="{BB962C8B-B14F-4D97-AF65-F5344CB8AC3E}">
        <p14:creationId xmlns:p14="http://schemas.microsoft.com/office/powerpoint/2010/main" val="818211194"/>
      </p:ext>
    </p:extLst>
  </p:cSld>
</p:sld>
</file>

<file path=ppt/slides/slide2.xml><?xml version="1.0" encoding="utf-8"?>
<p:sld xmlns:p="http://schemas.openxmlformats.org/presentationml/2006/main">
  <p:cSld>
    <p:bg>
      <p:bgPr>
        <a:solidFill xmlns:a="http://schemas.openxmlformats.org/drawingml/2006/main">
          <a:srgbClr val="FA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CC1DC7-17B5-4A41-AB12-B0A7C24C3F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2C22"/>
          </a:solidFill>
          <a:ln xmlns:a="http://schemas.openxmlformats.org/drawingml/2006/main" w="0">
            <a:solidFill>
              <a:srgbClr val="002C22"/>
            </a:solidFill>
            <a:prstDash val="solid"/>
          </a:ln>
        </p:spPr>
      </p:sp>
      <p:sp>
        <p:nvSpPr>
          <p:cNvPr id="2" name="">
            <a:extLst xmlns:a="http://schemas.openxmlformats.org/drawingml/2006/main">
              <a:ext uri="{FF2B5EF4-FFF2-40B4-BE49-F238E27FC236}">
                <a16:creationId xmlns:a16="http://schemas.microsoft.com/office/drawing/2014/main" id="{332BD7F5-9831-4620-886D-CABB1328BA77}"/>
              </a:ext>
            </a:extLst>
          </p:cNvPr>
          <p:cNvSpPr>
            <a:spLocks xmlns:a="http://schemas.openxmlformats.org/drawingml/2006/main" noGrp="1"/>
          </p:cNvSpPr>
          <p:nvPr/>
        </p:nvSpPr>
        <p:spPr>
          <a:xfrm xmlns:a="http://schemas.openxmlformats.org/drawingml/2006/main">
            <a:off x="685800" y="742950"/>
            <a:ext cx="666750" cy="66675"/>
          </a:xfrm>
          <a:prstGeom xmlns:a="http://schemas.openxmlformats.org/drawingml/2006/main" prst="rect">
            <a:avLst/>
          </a:prstGeom>
          <a:solidFill xmlns:a="http://schemas.openxmlformats.org/drawingml/2006/main">
            <a:srgbClr val="FE9A00"/>
          </a:solidFill>
          <a:ln xmlns:a="http://schemas.openxmlformats.org/drawingml/2006/main" w="0">
            <a:solidFill>
              <a:srgbClr val="FE9A00"/>
            </a:solidFill>
            <a:prstDash val="solid"/>
          </a:ln>
        </p:spPr>
      </p:sp>
      <p:sp>
        <p:nvSpPr>
          <p:cNvPr id="3" name="series-1">
            <a:extLst xmlns:a="http://schemas.openxmlformats.org/drawingml/2006/main">
              <a:ext uri="{FF2B5EF4-FFF2-40B4-BE49-F238E27FC236}">
                <a16:creationId xmlns:a16="http://schemas.microsoft.com/office/drawing/2014/main" id="{A7FA64DA-25E3-4433-8601-BB32C1C9FC7D}"/>
              </a:ext>
            </a:extLst>
          </p:cNvPr>
          <p:cNvSpPr>
            <a:spLocks xmlns:a="http://schemas.openxmlformats.org/drawingml/2006/main" noGrp="1"/>
          </p:cNvSpPr>
          <p:nvPr/>
        </p:nvSpPr>
        <p:spPr>
          <a:xfrm xmlns:a="http://schemas.openxmlformats.org/drawingml/2006/main">
            <a:off x="685800" y="3619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02C22"/>
                </a:solidFill>
              </a:defRPr>
            </a:pPr>
            <a:r>
              <a:rPr sz="1200" b="1">
                <a:solidFill>
                  <a:srgbClr val="002C22"/>
                </a:solidFill>
              </a:rPr>
              <a:t>積み上げログ  |  技術解説</a:t>
            </a:r>
          </a:p>
        </p:txBody>
      </p:sp>
      <p:sp>
        <p:nvSpPr>
          <p:cNvPr id="4" name="page-1">
            <a:extLst xmlns:a="http://schemas.openxmlformats.org/drawingml/2006/main">
              <a:ext uri="{FF2B5EF4-FFF2-40B4-BE49-F238E27FC236}">
                <a16:creationId xmlns:a16="http://schemas.microsoft.com/office/drawing/2014/main" id="{74C93327-4680-47A7-A423-83352F76E0D2}"/>
              </a:ext>
            </a:extLst>
          </p:cNvPr>
          <p:cNvSpPr>
            <a:spLocks xmlns:a="http://schemas.openxmlformats.org/drawingml/2006/main" noGrp="1"/>
          </p:cNvSpPr>
          <p:nvPr/>
        </p:nvSpPr>
        <p:spPr>
          <a:xfrm xmlns:a="http://schemas.openxmlformats.org/drawingml/2006/main">
            <a:off x="10782300" y="6191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7534D"/>
                </a:solidFill>
              </a:defRPr>
            </a:pPr>
            <a:r>
              <a:rPr sz="1050" b="1">
                <a:solidFill>
                  <a:srgbClr val="57534D"/>
                </a:solidFill>
              </a:rPr>
              <a:t>02</a:t>
            </a:r>
          </a:p>
        </p:txBody>
      </p:sp>
      <p:sp>
        <p:nvSpPr>
          <p:cNvPr id="5" name="title-1">
            <a:extLst xmlns:a="http://schemas.openxmlformats.org/drawingml/2006/main">
              <a:ext uri="{FF2B5EF4-FFF2-40B4-BE49-F238E27FC236}">
                <a16:creationId xmlns:a16="http://schemas.microsoft.com/office/drawing/2014/main" id="{714386FA-8A95-4E78-AE15-4CD9717D5A13}"/>
              </a:ext>
            </a:extLst>
          </p:cNvPr>
          <p:cNvSpPr>
            <a:spLocks xmlns:a="http://schemas.openxmlformats.org/drawingml/2006/main" noGrp="1"/>
          </p:cNvSpPr>
          <p:nvPr/>
        </p:nvSpPr>
        <p:spPr>
          <a:xfrm xmlns:a="http://schemas.openxmlformats.org/drawingml/2006/main">
            <a:off x="685800" y="1190625"/>
            <a:ext cx="10382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02C22"/>
                </a:solidFill>
              </a:defRPr>
            </a:pPr>
            <a:r>
              <a:rPr sz="3150" b="1">
                <a:solidFill>
                  <a:srgbClr val="002C22"/>
                </a:solidFill>
              </a:rPr>
              <a:t>このプロジェクトは何を解決する？</a:t>
            </a:r>
          </a:p>
        </p:txBody>
      </p:sp>
      <p:sp>
        <p:nvSpPr>
          <p:cNvPr id="6" name="">
            <a:extLst xmlns:a="http://schemas.openxmlformats.org/drawingml/2006/main">
              <a:ext uri="{FF2B5EF4-FFF2-40B4-BE49-F238E27FC236}">
                <a16:creationId xmlns:a16="http://schemas.microsoft.com/office/drawing/2014/main" id="{605FD004-8E0A-4196-A205-A3F5EAABCD81}"/>
              </a:ext>
            </a:extLst>
          </p:cNvPr>
          <p:cNvSpPr>
            <a:spLocks xmlns:a="http://schemas.openxmlformats.org/drawingml/2006/main" noGrp="1"/>
          </p:cNvSpPr>
          <p:nvPr/>
        </p:nvSpPr>
        <p:spPr>
          <a:xfrm xmlns:a="http://schemas.openxmlformats.org/drawingml/2006/main">
            <a:off x="685800" y="2714625"/>
            <a:ext cx="1057275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E7E5E4"/>
            </a:solidFill>
            <a:prstDash val="solid"/>
          </a:ln>
        </p:spPr>
      </p:sp>
      <p:sp>
        <p:nvSpPr>
          <p:cNvPr id="7" name="body-1">
            <a:extLst xmlns:a="http://schemas.openxmlformats.org/drawingml/2006/main">
              <a:ext uri="{FF2B5EF4-FFF2-40B4-BE49-F238E27FC236}">
                <a16:creationId xmlns:a16="http://schemas.microsoft.com/office/drawing/2014/main" id="{8F2CF9E6-77D9-4046-8BA5-A2D772FD7C3E}"/>
              </a:ext>
            </a:extLst>
          </p:cNvPr>
          <p:cNvSpPr>
            <a:spLocks xmlns:a="http://schemas.openxmlformats.org/drawingml/2006/main" noGrp="1"/>
          </p:cNvSpPr>
          <p:nvPr/>
        </p:nvSpPr>
        <p:spPr>
          <a:xfrm xmlns:a="http://schemas.openxmlformats.org/drawingml/2006/main">
            <a:off x="1066800" y="3095625"/>
            <a:ext cx="9810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a:solidFill>
                  <a:srgbClr val="002C22"/>
                </a:solidFill>
              </a:defRPr>
            </a:pPr>
            <a:r>
              <a:rPr sz="1950">
                <a:solidFill>
                  <a:srgbClr val="002C22"/>
                </a:solidFill>
              </a:rPr>
              <a:t>昭和ノスタルジア 昭和の暮らしの手ざわりを書き留め、その名残がいまも残る全国のレトロスポットをたどる静的サイトです</a:t>
            </a:r>
          </a:p>
        </p:txBody>
      </p:sp>
    </p:spTree>
    <p:extLst>
      <p:ext uri="{BB962C8B-B14F-4D97-AF65-F5344CB8AC3E}">
        <p14:creationId xmlns:p14="http://schemas.microsoft.com/office/powerpoint/2010/main" val="1437258003"/>
      </p:ext>
    </p:extLst>
  </p:cSld>
</p:sld>
</file>

<file path=ppt/slides/slide3.xml><?xml version="1.0" encoding="utf-8"?>
<p:sld xmlns:p="http://schemas.openxmlformats.org/presentationml/2006/main">
  <p:cSld>
    <p:bg>
      <p:bgPr>
        <a:solidFill xmlns:a="http://schemas.openxmlformats.org/drawingml/2006/main">
          <a:srgbClr val="FA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97D52B-DDA8-4573-9EEE-7489106E13A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2C22"/>
          </a:solidFill>
          <a:ln xmlns:a="http://schemas.openxmlformats.org/drawingml/2006/main" w="0">
            <a:solidFill>
              <a:srgbClr val="002C22"/>
            </a:solidFill>
            <a:prstDash val="solid"/>
          </a:ln>
        </p:spPr>
      </p:sp>
      <p:sp>
        <p:nvSpPr>
          <p:cNvPr id="2" name="">
            <a:extLst xmlns:a="http://schemas.openxmlformats.org/drawingml/2006/main">
              <a:ext uri="{FF2B5EF4-FFF2-40B4-BE49-F238E27FC236}">
                <a16:creationId xmlns:a16="http://schemas.microsoft.com/office/drawing/2014/main" id="{5E89C18E-8D1B-48E6-B419-090A7DC54657}"/>
              </a:ext>
            </a:extLst>
          </p:cNvPr>
          <p:cNvSpPr>
            <a:spLocks xmlns:a="http://schemas.openxmlformats.org/drawingml/2006/main" noGrp="1"/>
          </p:cNvSpPr>
          <p:nvPr/>
        </p:nvSpPr>
        <p:spPr>
          <a:xfrm xmlns:a="http://schemas.openxmlformats.org/drawingml/2006/main">
            <a:off x="685800" y="742950"/>
            <a:ext cx="666750" cy="66675"/>
          </a:xfrm>
          <a:prstGeom xmlns:a="http://schemas.openxmlformats.org/drawingml/2006/main" prst="rect">
            <a:avLst/>
          </a:prstGeom>
          <a:solidFill xmlns:a="http://schemas.openxmlformats.org/drawingml/2006/main">
            <a:srgbClr val="FE9A00"/>
          </a:solidFill>
          <a:ln xmlns:a="http://schemas.openxmlformats.org/drawingml/2006/main" w="0">
            <a:solidFill>
              <a:srgbClr val="FE9A00"/>
            </a:solidFill>
            <a:prstDash val="solid"/>
          </a:ln>
        </p:spPr>
      </p:sp>
      <p:sp>
        <p:nvSpPr>
          <p:cNvPr id="3" name="series-2">
            <a:extLst xmlns:a="http://schemas.openxmlformats.org/drawingml/2006/main">
              <a:ext uri="{FF2B5EF4-FFF2-40B4-BE49-F238E27FC236}">
                <a16:creationId xmlns:a16="http://schemas.microsoft.com/office/drawing/2014/main" id="{3C56BD5C-5198-4969-861F-FE1CFE9F09BE}"/>
              </a:ext>
            </a:extLst>
          </p:cNvPr>
          <p:cNvSpPr>
            <a:spLocks xmlns:a="http://schemas.openxmlformats.org/drawingml/2006/main" noGrp="1"/>
          </p:cNvSpPr>
          <p:nvPr/>
        </p:nvSpPr>
        <p:spPr>
          <a:xfrm xmlns:a="http://schemas.openxmlformats.org/drawingml/2006/main">
            <a:off x="685800" y="3619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02C22"/>
                </a:solidFill>
              </a:defRPr>
            </a:pPr>
            <a:r>
              <a:rPr sz="1200" b="1">
                <a:solidFill>
                  <a:srgbClr val="002C22"/>
                </a:solidFill>
              </a:rPr>
              <a:t>積み上げログ  |  技術解説</a:t>
            </a:r>
          </a:p>
        </p:txBody>
      </p:sp>
      <p:sp>
        <p:nvSpPr>
          <p:cNvPr id="4" name="page-2">
            <a:extLst xmlns:a="http://schemas.openxmlformats.org/drawingml/2006/main">
              <a:ext uri="{FF2B5EF4-FFF2-40B4-BE49-F238E27FC236}">
                <a16:creationId xmlns:a16="http://schemas.microsoft.com/office/drawing/2014/main" id="{871CDFBE-D090-4F91-9048-8CAF8C42F1F2}"/>
              </a:ext>
            </a:extLst>
          </p:cNvPr>
          <p:cNvSpPr>
            <a:spLocks xmlns:a="http://schemas.openxmlformats.org/drawingml/2006/main" noGrp="1"/>
          </p:cNvSpPr>
          <p:nvPr/>
        </p:nvSpPr>
        <p:spPr>
          <a:xfrm xmlns:a="http://schemas.openxmlformats.org/drawingml/2006/main">
            <a:off x="10782300" y="6191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7534D"/>
                </a:solidFill>
              </a:defRPr>
            </a:pPr>
            <a:r>
              <a:rPr sz="1050" b="1">
                <a:solidFill>
                  <a:srgbClr val="57534D"/>
                </a:solidFill>
              </a:rPr>
              <a:t>03</a:t>
            </a:r>
          </a:p>
        </p:txBody>
      </p:sp>
      <p:sp>
        <p:nvSpPr>
          <p:cNvPr id="5" name="title-2">
            <a:extLst xmlns:a="http://schemas.openxmlformats.org/drawingml/2006/main">
              <a:ext uri="{FF2B5EF4-FFF2-40B4-BE49-F238E27FC236}">
                <a16:creationId xmlns:a16="http://schemas.microsoft.com/office/drawing/2014/main" id="{8DCFC944-5018-407F-BA05-FE5FA352C0E6}"/>
              </a:ext>
            </a:extLst>
          </p:cNvPr>
          <p:cNvSpPr>
            <a:spLocks xmlns:a="http://schemas.openxmlformats.org/drawingml/2006/main" noGrp="1"/>
          </p:cNvSpPr>
          <p:nvPr/>
        </p:nvSpPr>
        <p:spPr>
          <a:xfrm xmlns:a="http://schemas.openxmlformats.org/drawingml/2006/main">
            <a:off x="685800" y="1190625"/>
            <a:ext cx="10382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02C22"/>
                </a:solidFill>
              </a:defRPr>
            </a:pPr>
            <a:r>
              <a:rPr sz="3150" b="1">
                <a:solidFill>
                  <a:srgbClr val="002C22"/>
                </a:solidFill>
              </a:rPr>
              <a:t>技術スタック</a:t>
            </a:r>
          </a:p>
        </p:txBody>
      </p:sp>
      <p:sp>
        <p:nvSpPr>
          <p:cNvPr id="6" name="">
            <a:extLst xmlns:a="http://schemas.openxmlformats.org/drawingml/2006/main">
              <a:ext uri="{FF2B5EF4-FFF2-40B4-BE49-F238E27FC236}">
                <a16:creationId xmlns:a16="http://schemas.microsoft.com/office/drawing/2014/main" id="{7F81326D-13D3-420E-A56A-02AC5A56433A}"/>
              </a:ext>
            </a:extLst>
          </p:cNvPr>
          <p:cNvSpPr>
            <a:spLocks xmlns:a="http://schemas.openxmlformats.org/drawingml/2006/main" noGrp="1"/>
          </p:cNvSpPr>
          <p:nvPr/>
        </p:nvSpPr>
        <p:spPr>
          <a:xfrm xmlns:a="http://schemas.openxmlformats.org/drawingml/2006/main">
            <a:off x="685800" y="2714625"/>
            <a:ext cx="1057275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E7E5E4"/>
            </a:solidFill>
            <a:prstDash val="solid"/>
          </a:ln>
        </p:spPr>
      </p:sp>
      <p:sp>
        <p:nvSpPr>
          <p:cNvPr id="7" name="body-2">
            <a:extLst xmlns:a="http://schemas.openxmlformats.org/drawingml/2006/main">
              <a:ext uri="{FF2B5EF4-FFF2-40B4-BE49-F238E27FC236}">
                <a16:creationId xmlns:a16="http://schemas.microsoft.com/office/drawing/2014/main" id="{8B4E202C-5A8C-429D-980B-E7B85DD752EA}"/>
              </a:ext>
            </a:extLst>
          </p:cNvPr>
          <p:cNvSpPr>
            <a:spLocks xmlns:a="http://schemas.openxmlformats.org/drawingml/2006/main" noGrp="1"/>
          </p:cNvSpPr>
          <p:nvPr/>
        </p:nvSpPr>
        <p:spPr>
          <a:xfrm xmlns:a="http://schemas.openxmlformats.org/drawingml/2006/main">
            <a:off x="1066800" y="3095625"/>
            <a:ext cx="9810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a:solidFill>
                  <a:srgbClr val="002C22"/>
                </a:solidFill>
              </a:defRPr>
            </a:pPr>
            <a:r>
              <a:rPr sz="1950">
                <a:solidFill>
                  <a:srgbClr val="002C22"/>
                </a:solidFill>
              </a:rPr>
              <a:t>主要技術：Astro</a:t>
            </a:r>
          </a:p>
          <a:p xmlns:a="http://schemas.openxmlformats.org/drawingml/2006/main">
            <a:pPr>
              <a:defRPr sz="1950">
                <a:solidFill>
                  <a:srgbClr val="002C22"/>
                </a:solidFill>
              </a:defRPr>
            </a:pPr>
            <a:r>
              <a:rPr sz="1950">
                <a:solidFill>
                  <a:srgbClr val="002C22"/>
                </a:solidFill>
              </a:rPr>
              <a:t>役割を分け、保守しやすい構成を目指しています。</a:t>
            </a:r>
          </a:p>
        </p:txBody>
      </p:sp>
    </p:spTree>
    <p:extLst>
      <p:ext uri="{BB962C8B-B14F-4D97-AF65-F5344CB8AC3E}">
        <p14:creationId xmlns:p14="http://schemas.microsoft.com/office/powerpoint/2010/main" val="343133410"/>
      </p:ext>
    </p:extLst>
  </p:cSld>
</p:sld>
</file>

<file path=ppt/slides/slide4.xml><?xml version="1.0" encoding="utf-8"?>
<p:sld xmlns:p="http://schemas.openxmlformats.org/presentationml/2006/main">
  <p:cSld>
    <p:bg>
      <p:bgPr>
        <a:solidFill xmlns:a="http://schemas.openxmlformats.org/drawingml/2006/main">
          <a:srgbClr val="FA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738334-8054-496A-857B-A0B133AFBA8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2C22"/>
          </a:solidFill>
          <a:ln xmlns:a="http://schemas.openxmlformats.org/drawingml/2006/main" w="0">
            <a:solidFill>
              <a:srgbClr val="002C22"/>
            </a:solidFill>
            <a:prstDash val="solid"/>
          </a:ln>
        </p:spPr>
      </p:sp>
      <p:sp>
        <p:nvSpPr>
          <p:cNvPr id="2" name="">
            <a:extLst xmlns:a="http://schemas.openxmlformats.org/drawingml/2006/main">
              <a:ext uri="{FF2B5EF4-FFF2-40B4-BE49-F238E27FC236}">
                <a16:creationId xmlns:a16="http://schemas.microsoft.com/office/drawing/2014/main" id="{F0F370F0-98F5-4B98-AF63-403729984966}"/>
              </a:ext>
            </a:extLst>
          </p:cNvPr>
          <p:cNvSpPr>
            <a:spLocks xmlns:a="http://schemas.openxmlformats.org/drawingml/2006/main" noGrp="1"/>
          </p:cNvSpPr>
          <p:nvPr/>
        </p:nvSpPr>
        <p:spPr>
          <a:xfrm xmlns:a="http://schemas.openxmlformats.org/drawingml/2006/main">
            <a:off x="685800" y="742950"/>
            <a:ext cx="666750" cy="66675"/>
          </a:xfrm>
          <a:prstGeom xmlns:a="http://schemas.openxmlformats.org/drawingml/2006/main" prst="rect">
            <a:avLst/>
          </a:prstGeom>
          <a:solidFill xmlns:a="http://schemas.openxmlformats.org/drawingml/2006/main">
            <a:srgbClr val="FE9A00"/>
          </a:solidFill>
          <a:ln xmlns:a="http://schemas.openxmlformats.org/drawingml/2006/main" w="0">
            <a:solidFill>
              <a:srgbClr val="FE9A00"/>
            </a:solidFill>
            <a:prstDash val="solid"/>
          </a:ln>
        </p:spPr>
      </p:sp>
      <p:sp>
        <p:nvSpPr>
          <p:cNvPr id="3" name="series-3">
            <a:extLst xmlns:a="http://schemas.openxmlformats.org/drawingml/2006/main">
              <a:ext uri="{FF2B5EF4-FFF2-40B4-BE49-F238E27FC236}">
                <a16:creationId xmlns:a16="http://schemas.microsoft.com/office/drawing/2014/main" id="{6B80D2D0-05B1-4C19-8982-6BAA51C14C48}"/>
              </a:ext>
            </a:extLst>
          </p:cNvPr>
          <p:cNvSpPr>
            <a:spLocks xmlns:a="http://schemas.openxmlformats.org/drawingml/2006/main" noGrp="1"/>
          </p:cNvSpPr>
          <p:nvPr/>
        </p:nvSpPr>
        <p:spPr>
          <a:xfrm xmlns:a="http://schemas.openxmlformats.org/drawingml/2006/main">
            <a:off x="685800" y="3619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02C22"/>
                </a:solidFill>
              </a:defRPr>
            </a:pPr>
            <a:r>
              <a:rPr sz="1200" b="1">
                <a:solidFill>
                  <a:srgbClr val="002C22"/>
                </a:solidFill>
              </a:rPr>
              <a:t>積み上げログ  |  技術解説</a:t>
            </a:r>
          </a:p>
        </p:txBody>
      </p:sp>
      <p:sp>
        <p:nvSpPr>
          <p:cNvPr id="4" name="page-3">
            <a:extLst xmlns:a="http://schemas.openxmlformats.org/drawingml/2006/main">
              <a:ext uri="{FF2B5EF4-FFF2-40B4-BE49-F238E27FC236}">
                <a16:creationId xmlns:a16="http://schemas.microsoft.com/office/drawing/2014/main" id="{96D8B29E-F47A-4EE1-A706-2310F0629FEB}"/>
              </a:ext>
            </a:extLst>
          </p:cNvPr>
          <p:cNvSpPr>
            <a:spLocks xmlns:a="http://schemas.openxmlformats.org/drawingml/2006/main" noGrp="1"/>
          </p:cNvSpPr>
          <p:nvPr/>
        </p:nvSpPr>
        <p:spPr>
          <a:xfrm xmlns:a="http://schemas.openxmlformats.org/drawingml/2006/main">
            <a:off x="10782300" y="6191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7534D"/>
                </a:solidFill>
              </a:defRPr>
            </a:pPr>
            <a:r>
              <a:rPr sz="1050" b="1">
                <a:solidFill>
                  <a:srgbClr val="57534D"/>
                </a:solidFill>
              </a:rPr>
              <a:t>04</a:t>
            </a:r>
          </a:p>
        </p:txBody>
      </p:sp>
      <p:sp>
        <p:nvSpPr>
          <p:cNvPr id="5" name="title-3">
            <a:extLst xmlns:a="http://schemas.openxmlformats.org/drawingml/2006/main">
              <a:ext uri="{FF2B5EF4-FFF2-40B4-BE49-F238E27FC236}">
                <a16:creationId xmlns:a16="http://schemas.microsoft.com/office/drawing/2014/main" id="{4F6763F5-CEA7-494F-B5CB-4C333252EB1B}"/>
              </a:ext>
            </a:extLst>
          </p:cNvPr>
          <p:cNvSpPr>
            <a:spLocks xmlns:a="http://schemas.openxmlformats.org/drawingml/2006/main" noGrp="1"/>
          </p:cNvSpPr>
          <p:nvPr/>
        </p:nvSpPr>
        <p:spPr>
          <a:xfrm xmlns:a="http://schemas.openxmlformats.org/drawingml/2006/main">
            <a:off x="685800" y="1190625"/>
            <a:ext cx="10382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02C22"/>
                </a:solidFill>
              </a:defRPr>
            </a:pPr>
            <a:r>
              <a:rPr sz="3150" b="1">
                <a:solidFill>
                  <a:srgbClr val="002C22"/>
                </a:solidFill>
              </a:rPr>
              <a:t>リポジトリの読みどころ</a:t>
            </a:r>
          </a:p>
        </p:txBody>
      </p:sp>
      <p:sp>
        <p:nvSpPr>
          <p:cNvPr id="6" name="">
            <a:extLst xmlns:a="http://schemas.openxmlformats.org/drawingml/2006/main">
              <a:ext uri="{FF2B5EF4-FFF2-40B4-BE49-F238E27FC236}">
                <a16:creationId xmlns:a16="http://schemas.microsoft.com/office/drawing/2014/main" id="{C9EF6DEF-E508-496E-B961-C83A09652AC1}"/>
              </a:ext>
            </a:extLst>
          </p:cNvPr>
          <p:cNvSpPr>
            <a:spLocks xmlns:a="http://schemas.openxmlformats.org/drawingml/2006/main" noGrp="1"/>
          </p:cNvSpPr>
          <p:nvPr/>
        </p:nvSpPr>
        <p:spPr>
          <a:xfrm xmlns:a="http://schemas.openxmlformats.org/drawingml/2006/main">
            <a:off x="685800" y="2714625"/>
            <a:ext cx="1057275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E7E5E4"/>
            </a:solidFill>
            <a:prstDash val="solid"/>
          </a:ln>
        </p:spPr>
      </p:sp>
      <p:sp>
        <p:nvSpPr>
          <p:cNvPr id="7" name="body-3">
            <a:extLst xmlns:a="http://schemas.openxmlformats.org/drawingml/2006/main">
              <a:ext uri="{FF2B5EF4-FFF2-40B4-BE49-F238E27FC236}">
                <a16:creationId xmlns:a16="http://schemas.microsoft.com/office/drawing/2014/main" id="{F1202375-5ADA-4F31-8991-7F25443029CC}"/>
              </a:ext>
            </a:extLst>
          </p:cNvPr>
          <p:cNvSpPr>
            <a:spLocks xmlns:a="http://schemas.openxmlformats.org/drawingml/2006/main" noGrp="1"/>
          </p:cNvSpPr>
          <p:nvPr/>
        </p:nvSpPr>
        <p:spPr>
          <a:xfrm xmlns:a="http://schemas.openxmlformats.org/drawingml/2006/main">
            <a:off x="1066800" y="3095625"/>
            <a:ext cx="9810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a:solidFill>
                  <a:srgbClr val="002C22"/>
                </a:solidFill>
              </a:defRPr>
            </a:pPr>
            <a:r>
              <a:rPr sz="1950">
                <a:solidFill>
                  <a:srgbClr val="002C22"/>
                </a:solidFill>
              </a:rPr>
              <a:t>公開コード、README、コミット履歴から設計判断を確認できます。</a:t>
            </a:r>
          </a:p>
          <a:p xmlns:a="http://schemas.openxmlformats.org/drawingml/2006/main">
            <a:pPr>
              <a:defRPr sz="1950">
                <a:solidFill>
                  <a:srgbClr val="002C22"/>
                </a:solidFill>
              </a:defRPr>
            </a:pPr>
            <a:r>
              <a:rPr sz="1950">
                <a:solidFill>
                  <a:srgbClr val="002C22"/>
                </a:solidFill>
              </a:rPr>
              <a:t>主なファイル：主要なソースファイル</a:t>
            </a:r>
          </a:p>
        </p:txBody>
      </p:sp>
    </p:spTree>
    <p:extLst>
      <p:ext uri="{BB962C8B-B14F-4D97-AF65-F5344CB8AC3E}">
        <p14:creationId xmlns:p14="http://schemas.microsoft.com/office/powerpoint/2010/main" val="1693857097"/>
      </p:ext>
    </p:extLst>
  </p:cSld>
</p:sld>
</file>

<file path=ppt/slides/slide5.xml><?xml version="1.0" encoding="utf-8"?>
<p:sld xmlns:p="http://schemas.openxmlformats.org/presentationml/2006/main">
  <p:cSld>
    <p:bg>
      <p:bgPr>
        <a:solidFill xmlns:a="http://schemas.openxmlformats.org/drawingml/2006/main">
          <a:srgbClr val="FA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42392B-0BCB-4C5A-9DA3-0517781041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2C22"/>
          </a:solidFill>
          <a:ln xmlns:a="http://schemas.openxmlformats.org/drawingml/2006/main" w="0">
            <a:solidFill>
              <a:srgbClr val="002C22"/>
            </a:solidFill>
            <a:prstDash val="solid"/>
          </a:ln>
        </p:spPr>
      </p:sp>
      <p:sp>
        <p:nvSpPr>
          <p:cNvPr id="2" name="">
            <a:extLst xmlns:a="http://schemas.openxmlformats.org/drawingml/2006/main">
              <a:ext uri="{FF2B5EF4-FFF2-40B4-BE49-F238E27FC236}">
                <a16:creationId xmlns:a16="http://schemas.microsoft.com/office/drawing/2014/main" id="{F5B52251-209E-4BF9-B151-2F452EABBDF4}"/>
              </a:ext>
            </a:extLst>
          </p:cNvPr>
          <p:cNvSpPr>
            <a:spLocks xmlns:a="http://schemas.openxmlformats.org/drawingml/2006/main" noGrp="1"/>
          </p:cNvSpPr>
          <p:nvPr/>
        </p:nvSpPr>
        <p:spPr>
          <a:xfrm xmlns:a="http://schemas.openxmlformats.org/drawingml/2006/main">
            <a:off x="685800" y="742950"/>
            <a:ext cx="666750" cy="66675"/>
          </a:xfrm>
          <a:prstGeom xmlns:a="http://schemas.openxmlformats.org/drawingml/2006/main" prst="rect">
            <a:avLst/>
          </a:prstGeom>
          <a:solidFill xmlns:a="http://schemas.openxmlformats.org/drawingml/2006/main">
            <a:srgbClr val="FE9A00"/>
          </a:solidFill>
          <a:ln xmlns:a="http://schemas.openxmlformats.org/drawingml/2006/main" w="0">
            <a:solidFill>
              <a:srgbClr val="FE9A00"/>
            </a:solidFill>
            <a:prstDash val="solid"/>
          </a:ln>
        </p:spPr>
      </p:sp>
      <p:sp>
        <p:nvSpPr>
          <p:cNvPr id="3" name="series-4">
            <a:extLst xmlns:a="http://schemas.openxmlformats.org/drawingml/2006/main">
              <a:ext uri="{FF2B5EF4-FFF2-40B4-BE49-F238E27FC236}">
                <a16:creationId xmlns:a16="http://schemas.microsoft.com/office/drawing/2014/main" id="{03C51BCF-87D4-4546-A83E-D184FC032EBF}"/>
              </a:ext>
            </a:extLst>
          </p:cNvPr>
          <p:cNvSpPr>
            <a:spLocks xmlns:a="http://schemas.openxmlformats.org/drawingml/2006/main" noGrp="1"/>
          </p:cNvSpPr>
          <p:nvPr/>
        </p:nvSpPr>
        <p:spPr>
          <a:xfrm xmlns:a="http://schemas.openxmlformats.org/drawingml/2006/main">
            <a:off x="685800" y="3619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02C22"/>
                </a:solidFill>
              </a:defRPr>
            </a:pPr>
            <a:r>
              <a:rPr sz="1200" b="1">
                <a:solidFill>
                  <a:srgbClr val="002C22"/>
                </a:solidFill>
              </a:rPr>
              <a:t>積み上げログ  |  技術解説</a:t>
            </a:r>
          </a:p>
        </p:txBody>
      </p:sp>
      <p:sp>
        <p:nvSpPr>
          <p:cNvPr id="4" name="page-4">
            <a:extLst xmlns:a="http://schemas.openxmlformats.org/drawingml/2006/main">
              <a:ext uri="{FF2B5EF4-FFF2-40B4-BE49-F238E27FC236}">
                <a16:creationId xmlns:a16="http://schemas.microsoft.com/office/drawing/2014/main" id="{F4936D74-2A7C-4BA3-8E24-3C88C95C08E6}"/>
              </a:ext>
            </a:extLst>
          </p:cNvPr>
          <p:cNvSpPr>
            <a:spLocks xmlns:a="http://schemas.openxmlformats.org/drawingml/2006/main" noGrp="1"/>
          </p:cNvSpPr>
          <p:nvPr/>
        </p:nvSpPr>
        <p:spPr>
          <a:xfrm xmlns:a="http://schemas.openxmlformats.org/drawingml/2006/main">
            <a:off x="10782300" y="6191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7534D"/>
                </a:solidFill>
              </a:defRPr>
            </a:pPr>
            <a:r>
              <a:rPr sz="1050" b="1">
                <a:solidFill>
                  <a:srgbClr val="57534D"/>
                </a:solidFill>
              </a:rPr>
              <a:t>05</a:t>
            </a:r>
          </a:p>
        </p:txBody>
      </p:sp>
      <p:sp>
        <p:nvSpPr>
          <p:cNvPr id="5" name="title-4">
            <a:extLst xmlns:a="http://schemas.openxmlformats.org/drawingml/2006/main">
              <a:ext uri="{FF2B5EF4-FFF2-40B4-BE49-F238E27FC236}">
                <a16:creationId xmlns:a16="http://schemas.microsoft.com/office/drawing/2014/main" id="{9E807711-490D-46FE-8F77-10C50F94DBE1}"/>
              </a:ext>
            </a:extLst>
          </p:cNvPr>
          <p:cNvSpPr>
            <a:spLocks xmlns:a="http://schemas.openxmlformats.org/drawingml/2006/main" noGrp="1"/>
          </p:cNvSpPr>
          <p:nvPr/>
        </p:nvSpPr>
        <p:spPr>
          <a:xfrm xmlns:a="http://schemas.openxmlformats.org/drawingml/2006/main">
            <a:off x="685800" y="1190625"/>
            <a:ext cx="10382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02C22"/>
                </a:solidFill>
              </a:defRPr>
            </a:pPr>
            <a:r>
              <a:rPr sz="3150" b="1">
                <a:solidFill>
                  <a:srgbClr val="002C22"/>
                </a:solidFill>
              </a:rPr>
              <a:t>コミットから分かる改善</a:t>
            </a:r>
          </a:p>
        </p:txBody>
      </p:sp>
      <p:sp>
        <p:nvSpPr>
          <p:cNvPr id="6" name="">
            <a:extLst xmlns:a="http://schemas.openxmlformats.org/drawingml/2006/main">
              <a:ext uri="{FF2B5EF4-FFF2-40B4-BE49-F238E27FC236}">
                <a16:creationId xmlns:a16="http://schemas.microsoft.com/office/drawing/2014/main" id="{9067A17F-4650-4B44-9408-B593BA22B7D0}"/>
              </a:ext>
            </a:extLst>
          </p:cNvPr>
          <p:cNvSpPr>
            <a:spLocks xmlns:a="http://schemas.openxmlformats.org/drawingml/2006/main" noGrp="1"/>
          </p:cNvSpPr>
          <p:nvPr/>
        </p:nvSpPr>
        <p:spPr>
          <a:xfrm xmlns:a="http://schemas.openxmlformats.org/drawingml/2006/main">
            <a:off x="685800" y="2714625"/>
            <a:ext cx="1057275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E7E5E4"/>
            </a:solidFill>
            <a:prstDash val="solid"/>
          </a:ln>
        </p:spPr>
      </p:sp>
      <p:sp>
        <p:nvSpPr>
          <p:cNvPr id="7" name="body-4">
            <a:extLst xmlns:a="http://schemas.openxmlformats.org/drawingml/2006/main">
              <a:ext uri="{FF2B5EF4-FFF2-40B4-BE49-F238E27FC236}">
                <a16:creationId xmlns:a16="http://schemas.microsoft.com/office/drawing/2014/main" id="{038B485D-196E-48DF-9FC3-B93708C08CCD}"/>
              </a:ext>
            </a:extLst>
          </p:cNvPr>
          <p:cNvSpPr>
            <a:spLocks xmlns:a="http://schemas.openxmlformats.org/drawingml/2006/main" noGrp="1"/>
          </p:cNvSpPr>
          <p:nvPr/>
        </p:nvSpPr>
        <p:spPr>
          <a:xfrm xmlns:a="http://schemas.openxmlformats.org/drawingml/2006/main">
            <a:off x="1066800" y="3095625"/>
            <a:ext cx="9810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a:solidFill>
                  <a:srgbClr val="002C22"/>
                </a:solidFill>
              </a:defRPr>
            </a:pPr>
            <a:r>
              <a:rPr sz="1950">
                <a:solidFill>
                  <a:srgbClr val="002C22"/>
                </a:solidFill>
              </a:rPr>
              <a:t>直近のコミットでは、実装の見直しと継続的な改善が行われました。</a:t>
            </a:r>
          </a:p>
        </p:txBody>
      </p:sp>
    </p:spTree>
    <p:extLst>
      <p:ext uri="{BB962C8B-B14F-4D97-AF65-F5344CB8AC3E}">
        <p14:creationId xmlns:p14="http://schemas.microsoft.com/office/powerpoint/2010/main" val="397333966"/>
      </p:ext>
    </p:extLst>
  </p:cSld>
</p:sld>
</file>

<file path=ppt/slides/slide6.xml><?xml version="1.0" encoding="utf-8"?>
<p:sld xmlns:p="http://schemas.openxmlformats.org/presentationml/2006/main">
  <p:cSld>
    <p:bg>
      <p:bgPr>
        <a:solidFill xmlns:a="http://schemas.openxmlformats.org/drawingml/2006/main">
          <a:srgbClr val="FA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85E4B3-E45E-4DB7-BEFC-A1753CFA2C7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2C22"/>
          </a:solidFill>
          <a:ln xmlns:a="http://schemas.openxmlformats.org/drawingml/2006/main" w="0">
            <a:solidFill>
              <a:srgbClr val="002C22"/>
            </a:solidFill>
            <a:prstDash val="solid"/>
          </a:ln>
        </p:spPr>
      </p:sp>
      <p:sp>
        <p:nvSpPr>
          <p:cNvPr id="2" name="">
            <a:extLst xmlns:a="http://schemas.openxmlformats.org/drawingml/2006/main">
              <a:ext uri="{FF2B5EF4-FFF2-40B4-BE49-F238E27FC236}">
                <a16:creationId xmlns:a16="http://schemas.microsoft.com/office/drawing/2014/main" id="{DF1397B8-5AEF-4DEF-AF17-ED2DC06EE4A0}"/>
              </a:ext>
            </a:extLst>
          </p:cNvPr>
          <p:cNvSpPr>
            <a:spLocks xmlns:a="http://schemas.openxmlformats.org/drawingml/2006/main" noGrp="1"/>
          </p:cNvSpPr>
          <p:nvPr/>
        </p:nvSpPr>
        <p:spPr>
          <a:xfrm xmlns:a="http://schemas.openxmlformats.org/drawingml/2006/main">
            <a:off x="685800" y="742950"/>
            <a:ext cx="666750" cy="66675"/>
          </a:xfrm>
          <a:prstGeom xmlns:a="http://schemas.openxmlformats.org/drawingml/2006/main" prst="rect">
            <a:avLst/>
          </a:prstGeom>
          <a:solidFill xmlns:a="http://schemas.openxmlformats.org/drawingml/2006/main">
            <a:srgbClr val="FE9A00"/>
          </a:solidFill>
          <a:ln xmlns:a="http://schemas.openxmlformats.org/drawingml/2006/main" w="0">
            <a:solidFill>
              <a:srgbClr val="FE9A00"/>
            </a:solidFill>
            <a:prstDash val="solid"/>
          </a:ln>
        </p:spPr>
      </p:sp>
      <p:sp>
        <p:nvSpPr>
          <p:cNvPr id="3" name="series-5">
            <a:extLst xmlns:a="http://schemas.openxmlformats.org/drawingml/2006/main">
              <a:ext uri="{FF2B5EF4-FFF2-40B4-BE49-F238E27FC236}">
                <a16:creationId xmlns:a16="http://schemas.microsoft.com/office/drawing/2014/main" id="{3B6C17DA-C12E-4EE3-BD99-828217CD7BFE}"/>
              </a:ext>
            </a:extLst>
          </p:cNvPr>
          <p:cNvSpPr>
            <a:spLocks xmlns:a="http://schemas.openxmlformats.org/drawingml/2006/main" noGrp="1"/>
          </p:cNvSpPr>
          <p:nvPr/>
        </p:nvSpPr>
        <p:spPr>
          <a:xfrm xmlns:a="http://schemas.openxmlformats.org/drawingml/2006/main">
            <a:off x="685800" y="3619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02C22"/>
                </a:solidFill>
              </a:defRPr>
            </a:pPr>
            <a:r>
              <a:rPr sz="1200" b="1">
                <a:solidFill>
                  <a:srgbClr val="002C22"/>
                </a:solidFill>
              </a:rPr>
              <a:t>積み上げログ  |  技術解説</a:t>
            </a:r>
          </a:p>
        </p:txBody>
      </p:sp>
      <p:sp>
        <p:nvSpPr>
          <p:cNvPr id="4" name="page-5">
            <a:extLst xmlns:a="http://schemas.openxmlformats.org/drawingml/2006/main">
              <a:ext uri="{FF2B5EF4-FFF2-40B4-BE49-F238E27FC236}">
                <a16:creationId xmlns:a16="http://schemas.microsoft.com/office/drawing/2014/main" id="{0EB754A7-ED8E-4372-96D3-0841A3FDDADE}"/>
              </a:ext>
            </a:extLst>
          </p:cNvPr>
          <p:cNvSpPr>
            <a:spLocks xmlns:a="http://schemas.openxmlformats.org/drawingml/2006/main" noGrp="1"/>
          </p:cNvSpPr>
          <p:nvPr/>
        </p:nvSpPr>
        <p:spPr>
          <a:xfrm xmlns:a="http://schemas.openxmlformats.org/drawingml/2006/main">
            <a:off x="10782300" y="6191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7534D"/>
                </a:solidFill>
              </a:defRPr>
            </a:pPr>
            <a:r>
              <a:rPr sz="1050" b="1">
                <a:solidFill>
                  <a:srgbClr val="57534D"/>
                </a:solidFill>
              </a:rPr>
              <a:t>06</a:t>
            </a:r>
          </a:p>
        </p:txBody>
      </p:sp>
      <p:sp>
        <p:nvSpPr>
          <p:cNvPr id="5" name="title-5">
            <a:extLst xmlns:a="http://schemas.openxmlformats.org/drawingml/2006/main">
              <a:ext uri="{FF2B5EF4-FFF2-40B4-BE49-F238E27FC236}">
                <a16:creationId xmlns:a16="http://schemas.microsoft.com/office/drawing/2014/main" id="{D5A9B3EB-DD7A-4B3E-918A-071B0C0F7B9A}"/>
              </a:ext>
            </a:extLst>
          </p:cNvPr>
          <p:cNvSpPr>
            <a:spLocks xmlns:a="http://schemas.openxmlformats.org/drawingml/2006/main" noGrp="1"/>
          </p:cNvSpPr>
          <p:nvPr/>
        </p:nvSpPr>
        <p:spPr>
          <a:xfrm xmlns:a="http://schemas.openxmlformats.org/drawingml/2006/main">
            <a:off x="685800" y="1190625"/>
            <a:ext cx="10382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02C22"/>
                </a:solidFill>
              </a:defRPr>
            </a:pPr>
            <a:r>
              <a:rPr sz="3150" b="1">
                <a:solidFill>
                  <a:srgbClr val="002C22"/>
                </a:solidFill>
              </a:rPr>
              <a:t>詳しくは積み上げログへ</a:t>
            </a:r>
          </a:p>
        </p:txBody>
      </p:sp>
      <p:sp>
        <p:nvSpPr>
          <p:cNvPr id="6" name="">
            <a:extLst xmlns:a="http://schemas.openxmlformats.org/drawingml/2006/main">
              <a:ext uri="{FF2B5EF4-FFF2-40B4-BE49-F238E27FC236}">
                <a16:creationId xmlns:a16="http://schemas.microsoft.com/office/drawing/2014/main" id="{FC162900-6498-4023-9AE8-5682B086E5D6}"/>
              </a:ext>
            </a:extLst>
          </p:cNvPr>
          <p:cNvSpPr>
            <a:spLocks xmlns:a="http://schemas.openxmlformats.org/drawingml/2006/main" noGrp="1"/>
          </p:cNvSpPr>
          <p:nvPr/>
        </p:nvSpPr>
        <p:spPr>
          <a:xfrm xmlns:a="http://schemas.openxmlformats.org/drawingml/2006/main">
            <a:off x="685800" y="2714625"/>
            <a:ext cx="1057275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E7E5E4"/>
            </a:solidFill>
            <a:prstDash val="solid"/>
          </a:ln>
        </p:spPr>
      </p:sp>
      <p:sp>
        <p:nvSpPr>
          <p:cNvPr id="7" name="body-5">
            <a:extLst xmlns:a="http://schemas.openxmlformats.org/drawingml/2006/main">
              <a:ext uri="{FF2B5EF4-FFF2-40B4-BE49-F238E27FC236}">
                <a16:creationId xmlns:a16="http://schemas.microsoft.com/office/drawing/2014/main" id="{EED6910E-DE4F-4267-A8EA-233D0BC536C5}"/>
              </a:ext>
            </a:extLst>
          </p:cNvPr>
          <p:cNvSpPr>
            <a:spLocks xmlns:a="http://schemas.openxmlformats.org/drawingml/2006/main" noGrp="1"/>
          </p:cNvSpPr>
          <p:nvPr/>
        </p:nvSpPr>
        <p:spPr>
          <a:xfrm xmlns:a="http://schemas.openxmlformats.org/drawingml/2006/main">
            <a:off x="1066800" y="3095625"/>
            <a:ext cx="9810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a:solidFill>
                  <a:srgbClr val="002C22"/>
                </a:solidFill>
              </a:defRPr>
            </a:pPr>
            <a:r>
              <a:rPr sz="1950">
                <a:solidFill>
                  <a:srgbClr val="002C22"/>
                </a:solidFill>
              </a:rPr>
              <a:t>記事： https://syunnjack.dev/articles/nostalgia-s</a:t>
            </a:r>
          </a:p>
          <a:p xmlns:a="http://schemas.openxmlformats.org/drawingml/2006/main">
            <a:r>
              <a:t/>
            </a:r>
          </a:p>
          <a:p xmlns:a="http://schemas.openxmlformats.org/drawingml/2006/main">
            <a:pPr>
              <a:defRPr sz="1950">
                <a:solidFill>
                  <a:srgbClr val="002C22"/>
                </a:solidFill>
              </a:defRPr>
            </a:pPr>
            <a:r>
              <a:rPr sz="1950">
                <a:solidFill>
                  <a:srgbClr val="002C22"/>
                </a:solidFill>
              </a:rPr>
              <a:t>学び、作り、振り返る開発記録。</a:t>
            </a:r>
          </a:p>
        </p:txBody>
      </p:sp>
    </p:spTree>
    <p:extLst>
      <p:ext uri="{BB962C8B-B14F-4D97-AF65-F5344CB8AC3E}">
        <p14:creationId xmlns:p14="http://schemas.microsoft.com/office/powerpoint/2010/main" val="1018999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2026-08-13T11:57:58.5030000Z</dcterms:created>
  <dcterms:modified xsi:type="dcterms:W3CDTF">2026-08-13T11:57:58.5040000Z</dcterms:modified>
</coreProperties>
</file>