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88476a02b094872" /><Relationship Type="http://schemas.openxmlformats.org/officeDocument/2006/relationships/extended-properties" Target="/docProps/app.xml" Id="R1649572378a445b3" /><Relationship Type="http://schemas.openxmlformats.org/officeDocument/2006/relationships/officeDocument" Target="/ppt/presentation.xml" Id="Rc2a60f130adc433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650d73761db489e"/>
  </p:sldMasterIdLst>
  <p:notesMasterIdLst>
    <p:notesMasterId xmlns:r="http://schemas.openxmlformats.org/officeDocument/2006/relationships" r:id="R21a39e4411da4228"/>
  </p:notesMasterIdLst>
  <p:sldIdLst>
    <p:sldId xmlns:r="http://schemas.openxmlformats.org/officeDocument/2006/relationships" id="256" r:id="R79a30a8b2c5c4f96"/>
    <p:sldId xmlns:r="http://schemas.openxmlformats.org/officeDocument/2006/relationships" id="257" r:id="R42c0d52719ae432f"/>
    <p:sldId xmlns:r="http://schemas.openxmlformats.org/officeDocument/2006/relationships" id="258" r:id="Rb26fdcc75d8b45ce"/>
    <p:sldId xmlns:r="http://schemas.openxmlformats.org/officeDocument/2006/relationships" id="259" r:id="Rf6ad47030d4a4939"/>
    <p:sldId xmlns:r="http://schemas.openxmlformats.org/officeDocument/2006/relationships" id="260" r:id="R2eeff52eff084e4b"/>
    <p:sldId xmlns:r="http://schemas.openxmlformats.org/officeDocument/2006/relationships" id="261" r:id="R522af9acb57f40c8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13412fdfdc7463d" /><Relationship Type="http://schemas.openxmlformats.org/officeDocument/2006/relationships/slideMaster" Target="/ppt/slideMasters/slideMaster1.xml" Id="R5650d73761db489e" /><Relationship Type="http://schemas.openxmlformats.org/officeDocument/2006/relationships/notesMaster" Target="/ppt/notesMasters/notesMaster1.xml" Id="R21a39e4411da4228" /><Relationship Type="http://schemas.openxmlformats.org/officeDocument/2006/relationships/presProps" Target="/ppt/presProps.xml" Id="R570a2fffbbdb4ac4" /><Relationship Type="http://schemas.openxmlformats.org/officeDocument/2006/relationships/tableStyles" Target="/ppt/tableStyles.xml" Id="R6dcea359aafe4491" /><Relationship Type="http://schemas.openxmlformats.org/officeDocument/2006/relationships/slide" Target="/ppt/slides/slide1.xml" Id="R79a30a8b2c5c4f96" /><Relationship Type="http://schemas.openxmlformats.org/officeDocument/2006/relationships/slide" Target="/ppt/slides/slide2.xml" Id="R42c0d52719ae432f" /><Relationship Type="http://schemas.openxmlformats.org/officeDocument/2006/relationships/slide" Target="/ppt/slides/slide3.xml" Id="Rb26fdcc75d8b45ce" /><Relationship Type="http://schemas.openxmlformats.org/officeDocument/2006/relationships/slide" Target="/ppt/slides/slide4.xml" Id="Rf6ad47030d4a4939" /><Relationship Type="http://schemas.openxmlformats.org/officeDocument/2006/relationships/slide" Target="/ppt/slides/slide5.xml" Id="R2eeff52eff084e4b" /><Relationship Type="http://schemas.openxmlformats.org/officeDocument/2006/relationships/slide" Target="/ppt/slides/slide6.xml" Id="R522af9acb57f40c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a06540307e74e3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76ba9d2bddc44b3" /><Relationship Type="http://schemas.openxmlformats.org/officeDocument/2006/relationships/notesMaster" Target="/ppt/notesMasters/notesMaster1.xml" Id="R49b0c34e832f4b0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4a0e841440748fc" /><Relationship Type="http://schemas.openxmlformats.org/officeDocument/2006/relationships/notesMaster" Target="/ppt/notesMasters/notesMaster1.xml" Id="Rc5f932829d13477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bac7d36431e4ad3" /><Relationship Type="http://schemas.openxmlformats.org/officeDocument/2006/relationships/notesMaster" Target="/ppt/notesMasters/notesMaster1.xml" Id="R73d0bc2e2b1a41c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cb1c1a590a34ea8" /><Relationship Type="http://schemas.openxmlformats.org/officeDocument/2006/relationships/notesMaster" Target="/ppt/notesMasters/notesMaster1.xml" Id="Rfe125a8f795b4d2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c50e7b0bd7840fd" /><Relationship Type="http://schemas.openxmlformats.org/officeDocument/2006/relationships/notesMaster" Target="/ppt/notesMasters/notesMaster1.xml" Id="R83e71a4afcd7492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27b377d21604b4a" /><Relationship Type="http://schemas.openxmlformats.org/officeDocument/2006/relationships/notesMaster" Target="/ppt/notesMasters/notesMaster1.xml" Id="Ra3aa1735fc91432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今回は、IniD Comunityの技術構成を短く解説します。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https://github.com/syunnjack/iniD-comunity</a:t>
            </a:r>
          </a:p>
          <a:p xmlns:a="http://schemas.openxmlformats.org/drawingml/2006/main">
            <a:r>
              <a:t>- https://syunnjack.dev/articles/inid-comunity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INITIAL D START LINE 頭文字D THE ARCADEを始めたばかりのプレイヤー向けの、非公式攻略・成長記録・交流サイトです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https://github.com/syunnjack/iniD-comunity</a:t>
            </a:r>
          </a:p>
          <a:p xmlns:a="http://schemas.openxmlformats.org/drawingml/2006/main">
            <a:r>
              <a:t>- https://syunnjack.dev/articles/inid-comunity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主な技術はTypeScriptです。役割を分け、保守しやすい構成を目指しています。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https://github.com/syunnjack/iniD-comunity</a:t>
            </a:r>
          </a:p>
          <a:p xmlns:a="http://schemas.openxmlformats.org/drawingml/2006/main">
            <a:r>
              <a:t>- https://syunnjack.dev/articles/inid-comunity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リポジトリでは、主要なソースファイルを中心に実装を確認できます。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https://github.com/syunnjack/iniD-comunity</a:t>
            </a:r>
          </a:p>
          <a:p xmlns:a="http://schemas.openxmlformats.org/drawingml/2006/main">
            <a:r>
              <a:t>- https://syunnjack.dev/articles/inid-comunity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直近のコミットでは、実装の見直しと継続的な改善が行われました。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https://github.com/syunnjack/iniD-comunity</a:t>
            </a:r>
          </a:p>
          <a:p xmlns:a="http://schemas.openxmlformats.org/drawingml/2006/main">
            <a:r>
              <a:t>- https://syunnjack.dev/articles/inid-comunity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詳しい設計とコミット履歴は、技術ブログ積み上げログの記事で紹介しています。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https://github.com/syunnjack/iniD-comunity</a:t>
            </a:r>
          </a:p>
          <a:p xmlns:a="http://schemas.openxmlformats.org/drawingml/2006/main">
            <a:r>
              <a:t>- https://syunnjack.dev/articles/inid-comunity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762d513e8bc4b44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dcc2810b8a34480" /><Relationship Type="http://schemas.openxmlformats.org/officeDocument/2006/relationships/slideLayout" Target="/ppt/slideLayouts/slideLayout1.xml" Id="R87b65fea53de40b9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7b65fea53de40b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0cb1f6c4148442f" /><Relationship Type="http://schemas.openxmlformats.org/officeDocument/2006/relationships/notesSlide" Target="/ppt/notesSlides/notesSlide1.xml" Id="Rfa858bb9e66c404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197ebff29824c7a" /><Relationship Type="http://schemas.openxmlformats.org/officeDocument/2006/relationships/notesSlide" Target="/ppt/notesSlides/notesSlide2.xml" Id="Rbe2e791983d84aa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ac8088e8f7d4a05" /><Relationship Type="http://schemas.openxmlformats.org/officeDocument/2006/relationships/notesSlide" Target="/ppt/notesSlides/notesSlide3.xml" Id="Rf22e678a507646c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d6478fab08f4ac2" /><Relationship Type="http://schemas.openxmlformats.org/officeDocument/2006/relationships/notesSlide" Target="/ppt/notesSlides/notesSlide4.xml" Id="R089a89b9edd2419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36fb1734a974e85" /><Relationship Type="http://schemas.openxmlformats.org/officeDocument/2006/relationships/notesSlide" Target="/ppt/notesSlides/notesSlide5.xml" Id="Rebc4232e75f545a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8f85627402f4f12" /><Relationship Type="http://schemas.openxmlformats.org/officeDocument/2006/relationships/notesSlide" Target="/ppt/notesSlides/notesSlide6.xml" Id="Rb02408d251644ac7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AFA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54F2FE5-95DC-4F4E-B1EA-465168707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C22"/>
          </a:solidFill>
          <a:ln xmlns:a="http://schemas.openxmlformats.org/drawingml/2006/main" w="0">
            <a:solidFill>
              <a:srgbClr val="002C2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A1BDAEE-A270-47C4-A4AF-74B5EB0E7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6667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9A00"/>
          </a:solidFill>
          <a:ln xmlns:a="http://schemas.openxmlformats.org/drawingml/2006/main" w="0">
            <a:solidFill>
              <a:srgbClr val="FE9A00"/>
            </a:solidFill>
            <a:prstDash val="solid"/>
          </a:ln>
        </p:spPr>
      </p:sp>
      <p:sp>
        <p:nvSpPr>
          <p:cNvPr id="3" name="series-0">
            <a:extLst xmlns:a="http://schemas.openxmlformats.org/drawingml/2006/main">
              <a:ext uri="{FF2B5EF4-FFF2-40B4-BE49-F238E27FC236}">
                <a16:creationId xmlns:a16="http://schemas.microsoft.com/office/drawing/2014/main" id="{E0367B17-BAEF-47B9-B5EB-24D239FC9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438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02C22"/>
                </a:solidFill>
              </a:defRPr>
            </a:pPr>
            <a:r>
              <a:rPr sz="1200" b="1">
                <a:solidFill>
                  <a:srgbClr val="002C22"/>
                </a:solidFill>
              </a:rPr>
              <a:t>積み上げログ  |  技術解説</a:t>
            </a:r>
          </a:p>
        </p:txBody>
      </p:sp>
      <p:sp>
        <p:nvSpPr>
          <p:cNvPr id="4" name="page-0">
            <a:extLst xmlns:a="http://schemas.openxmlformats.org/drawingml/2006/main">
              <a:ext uri="{FF2B5EF4-FFF2-40B4-BE49-F238E27FC236}">
                <a16:creationId xmlns:a16="http://schemas.microsoft.com/office/drawing/2014/main" id="{8F4FFB47-ABD7-486F-9425-E71F1B5B4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6191250"/>
            <a:ext cx="66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7534D"/>
                </a:solidFill>
              </a:defRPr>
            </a:pPr>
            <a:r>
              <a:rPr sz="1050" b="1">
                <a:solidFill>
                  <a:srgbClr val="57534D"/>
                </a:solidFill>
              </a:rPr>
              <a:t>01</a:t>
            </a:r>
          </a:p>
        </p:txBody>
      </p:sp>
      <p:sp>
        <p:nvSpPr>
          <p:cNvPr id="5" name="title">
            <a:extLst xmlns:a="http://schemas.openxmlformats.org/drawingml/2006/main">
              <a:ext uri="{FF2B5EF4-FFF2-40B4-BE49-F238E27FC236}">
                <a16:creationId xmlns:a16="http://schemas.microsoft.com/office/drawing/2014/main" id="{C4E5C843-2312-4516-8AD1-D07903F54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14500"/>
            <a:ext cx="10287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4350" b="1">
                <a:solidFill>
                  <a:srgbClr val="002C22"/>
                </a:solidFill>
              </a:defRPr>
            </a:pPr>
            <a:r>
              <a:rPr sz="4350" b="1">
                <a:solidFill>
                  <a:srgbClr val="002C22"/>
                </a:solidFill>
              </a:rPr>
              <a:t>IniD Comunityの技術解説</a:t>
            </a:r>
          </a:p>
        </p:txBody>
      </p:sp>
      <p:sp>
        <p:nvSpPr>
          <p:cNvPr id="6" name="subtitle">
            <a:extLst xmlns:a="http://schemas.openxmlformats.org/drawingml/2006/main">
              <a:ext uri="{FF2B5EF4-FFF2-40B4-BE49-F238E27FC236}">
                <a16:creationId xmlns:a16="http://schemas.microsoft.com/office/drawing/2014/main" id="{FE7CFB28-FBE0-4A24-A505-FB5A4767A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429000"/>
            <a:ext cx="8953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57534D"/>
                </a:solidFill>
              </a:defRPr>
            </a:pPr>
            <a:r>
              <a:rPr sz="1875">
                <a:solidFill>
                  <a:srgbClr val="57534D"/>
                </a:solidFill>
              </a:rPr>
              <a:t>設計・実装・コミットから学ぶ短時間の技術解説</a:t>
            </a:r>
          </a:p>
        </p:txBody>
      </p:sp>
      <p:sp>
        <p:nvSpPr>
          <p:cNvPr id="7" name="language">
            <a:extLst xmlns:a="http://schemas.openxmlformats.org/drawingml/2006/main">
              <a:ext uri="{FF2B5EF4-FFF2-40B4-BE49-F238E27FC236}">
                <a16:creationId xmlns:a16="http://schemas.microsoft.com/office/drawing/2014/main" id="{33631A99-EE9B-410D-BD0E-2DB51971A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762500"/>
            <a:ext cx="3048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FE9A00"/>
                </a:solidFill>
              </a:defRPr>
            </a:pPr>
            <a:r>
              <a:rPr sz="1500" b="1">
                <a:solidFill>
                  <a:srgbClr val="FE9A00"/>
                </a:solidFill>
              </a:rPr>
              <a:t>TypeScript</a:t>
            </a:r>
          </a:p>
        </p:txBody>
      </p:sp>
    </p:spTree>
    <p:extLst>
      <p:ext uri="{BB962C8B-B14F-4D97-AF65-F5344CB8AC3E}">
        <p14:creationId xmlns:p14="http://schemas.microsoft.com/office/powerpoint/2010/main" val="87717304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AFA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20DF10F-7F39-4465-98F6-DFBA3F124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C22"/>
          </a:solidFill>
          <a:ln xmlns:a="http://schemas.openxmlformats.org/drawingml/2006/main" w="0">
            <a:solidFill>
              <a:srgbClr val="002C2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9719B09-8EAB-4F65-8060-92BFDC16A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6667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9A00"/>
          </a:solidFill>
          <a:ln xmlns:a="http://schemas.openxmlformats.org/drawingml/2006/main" w="0">
            <a:solidFill>
              <a:srgbClr val="FE9A00"/>
            </a:solidFill>
            <a:prstDash val="solid"/>
          </a:ln>
        </p:spPr>
      </p:sp>
      <p:sp>
        <p:nvSpPr>
          <p:cNvPr id="3" name="series-1">
            <a:extLst xmlns:a="http://schemas.openxmlformats.org/drawingml/2006/main">
              <a:ext uri="{FF2B5EF4-FFF2-40B4-BE49-F238E27FC236}">
                <a16:creationId xmlns:a16="http://schemas.microsoft.com/office/drawing/2014/main" id="{0D6AADB4-EF46-4018-A436-F56BD3162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438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02C22"/>
                </a:solidFill>
              </a:defRPr>
            </a:pPr>
            <a:r>
              <a:rPr sz="1200" b="1">
                <a:solidFill>
                  <a:srgbClr val="002C22"/>
                </a:solidFill>
              </a:rPr>
              <a:t>積み上げログ  |  技術解説</a:t>
            </a:r>
          </a:p>
        </p:txBody>
      </p:sp>
      <p:sp>
        <p:nvSpPr>
          <p:cNvPr id="4" name="page-1">
            <a:extLst xmlns:a="http://schemas.openxmlformats.org/drawingml/2006/main">
              <a:ext uri="{FF2B5EF4-FFF2-40B4-BE49-F238E27FC236}">
                <a16:creationId xmlns:a16="http://schemas.microsoft.com/office/drawing/2014/main" id="{051A1DA7-A836-4ADD-B14F-97E5DD408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6191250"/>
            <a:ext cx="66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7534D"/>
                </a:solidFill>
              </a:defRPr>
            </a:pPr>
            <a:r>
              <a:rPr sz="1050" b="1">
                <a:solidFill>
                  <a:srgbClr val="57534D"/>
                </a:solidFill>
              </a:rPr>
              <a:t>02</a:t>
            </a:r>
          </a:p>
        </p:txBody>
      </p:sp>
      <p:sp>
        <p:nvSpPr>
          <p:cNvPr id="5" name="title-1">
            <a:extLst xmlns:a="http://schemas.openxmlformats.org/drawingml/2006/main">
              <a:ext uri="{FF2B5EF4-FFF2-40B4-BE49-F238E27FC236}">
                <a16:creationId xmlns:a16="http://schemas.microsoft.com/office/drawing/2014/main" id="{EBA33FA5-985B-4432-B31D-F59B3898F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90625"/>
            <a:ext cx="10382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002C22"/>
                </a:solidFill>
              </a:defRPr>
            </a:pPr>
            <a:r>
              <a:rPr sz="3150" b="1">
                <a:solidFill>
                  <a:srgbClr val="002C22"/>
                </a:solidFill>
              </a:rPr>
              <a:t>このプロジェクトは何を解決する？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8890BFC-3D13-4320-A0A0-CEFEB7791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14625"/>
            <a:ext cx="10572750" cy="247650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ECFDF5"/>
          </a:solidFill>
          <a:ln xmlns:a="http://schemas.openxmlformats.org/drawingml/2006/main" w="9525">
            <a:solidFill>
              <a:srgbClr val="E7E5E4"/>
            </a:solidFill>
            <a:prstDash val="solid"/>
          </a:ln>
        </p:spPr>
      </p:sp>
      <p:sp>
        <p:nvSpPr>
          <p:cNvPr id="7" name="body-1">
            <a:extLst xmlns:a="http://schemas.openxmlformats.org/drawingml/2006/main">
              <a:ext uri="{FF2B5EF4-FFF2-40B4-BE49-F238E27FC236}">
                <a16:creationId xmlns:a16="http://schemas.microsoft.com/office/drawing/2014/main" id="{5C780652-A395-475D-B5AD-242BB4099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095625"/>
            <a:ext cx="981075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002C22"/>
                </a:solidFill>
              </a:defRPr>
            </a:pPr>
            <a:r>
              <a:rPr sz="1950">
                <a:solidFill>
                  <a:srgbClr val="002C22"/>
                </a:solidFill>
              </a:rPr>
              <a:t>INITIAL D START LINE 頭文字D THE ARCADEを始めたばかりのプレイヤー向けの、非公式攻略・成長記録・交流サイトです</a:t>
            </a:r>
          </a:p>
        </p:txBody>
      </p:sp>
    </p:spTree>
    <p:extLst>
      <p:ext uri="{BB962C8B-B14F-4D97-AF65-F5344CB8AC3E}">
        <p14:creationId xmlns:p14="http://schemas.microsoft.com/office/powerpoint/2010/main" val="159475983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AFA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20F2F7F-6679-498E-B1C4-25BB6B73C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C22"/>
          </a:solidFill>
          <a:ln xmlns:a="http://schemas.openxmlformats.org/drawingml/2006/main" w="0">
            <a:solidFill>
              <a:srgbClr val="002C2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024B87A-38A5-4DB4-89D9-B06037BE2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6667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9A00"/>
          </a:solidFill>
          <a:ln xmlns:a="http://schemas.openxmlformats.org/drawingml/2006/main" w="0">
            <a:solidFill>
              <a:srgbClr val="FE9A00"/>
            </a:solidFill>
            <a:prstDash val="solid"/>
          </a:ln>
        </p:spPr>
      </p:sp>
      <p:sp>
        <p:nvSpPr>
          <p:cNvPr id="3" name="series-2">
            <a:extLst xmlns:a="http://schemas.openxmlformats.org/drawingml/2006/main">
              <a:ext uri="{FF2B5EF4-FFF2-40B4-BE49-F238E27FC236}">
                <a16:creationId xmlns:a16="http://schemas.microsoft.com/office/drawing/2014/main" id="{F3CA6B4F-3829-4EA7-9742-9469936F5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438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02C22"/>
                </a:solidFill>
              </a:defRPr>
            </a:pPr>
            <a:r>
              <a:rPr sz="1200" b="1">
                <a:solidFill>
                  <a:srgbClr val="002C22"/>
                </a:solidFill>
              </a:rPr>
              <a:t>積み上げログ  |  技術解説</a:t>
            </a:r>
          </a:p>
        </p:txBody>
      </p:sp>
      <p:sp>
        <p:nvSpPr>
          <p:cNvPr id="4" name="page-2">
            <a:extLst xmlns:a="http://schemas.openxmlformats.org/drawingml/2006/main">
              <a:ext uri="{FF2B5EF4-FFF2-40B4-BE49-F238E27FC236}">
                <a16:creationId xmlns:a16="http://schemas.microsoft.com/office/drawing/2014/main" id="{05E55125-59F1-49FD-B6DC-7ED7C9987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6191250"/>
            <a:ext cx="66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7534D"/>
                </a:solidFill>
              </a:defRPr>
            </a:pPr>
            <a:r>
              <a:rPr sz="1050" b="1">
                <a:solidFill>
                  <a:srgbClr val="57534D"/>
                </a:solidFill>
              </a:rPr>
              <a:t>03</a:t>
            </a:r>
          </a:p>
        </p:txBody>
      </p:sp>
      <p:sp>
        <p:nvSpPr>
          <p:cNvPr id="5" name="title-2">
            <a:extLst xmlns:a="http://schemas.openxmlformats.org/drawingml/2006/main">
              <a:ext uri="{FF2B5EF4-FFF2-40B4-BE49-F238E27FC236}">
                <a16:creationId xmlns:a16="http://schemas.microsoft.com/office/drawing/2014/main" id="{02DBFD69-08EE-4077-AA4E-B3227DB99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90625"/>
            <a:ext cx="10382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002C22"/>
                </a:solidFill>
              </a:defRPr>
            </a:pPr>
            <a:r>
              <a:rPr sz="3150" b="1">
                <a:solidFill>
                  <a:srgbClr val="002C22"/>
                </a:solidFill>
              </a:rPr>
              <a:t>技術スタック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5FEAAA0-0CC9-4121-BF97-F243E489A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14625"/>
            <a:ext cx="10572750" cy="247650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ECFDF5"/>
          </a:solidFill>
          <a:ln xmlns:a="http://schemas.openxmlformats.org/drawingml/2006/main" w="9525">
            <a:solidFill>
              <a:srgbClr val="E7E5E4"/>
            </a:solidFill>
            <a:prstDash val="solid"/>
          </a:ln>
        </p:spPr>
      </p:sp>
      <p:sp>
        <p:nvSpPr>
          <p:cNvPr id="7" name="body-2">
            <a:extLst xmlns:a="http://schemas.openxmlformats.org/drawingml/2006/main">
              <a:ext uri="{FF2B5EF4-FFF2-40B4-BE49-F238E27FC236}">
                <a16:creationId xmlns:a16="http://schemas.microsoft.com/office/drawing/2014/main" id="{C951D77A-720C-4066-A87E-8B9732AE9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095625"/>
            <a:ext cx="981075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002C22"/>
                </a:solidFill>
              </a:defRPr>
            </a:pPr>
            <a:r>
              <a:rPr sz="1950">
                <a:solidFill>
                  <a:srgbClr val="002C22"/>
                </a:solidFill>
              </a:rPr>
              <a:t>主要技術：TypeScript</a:t>
            </a:r>
          </a:p>
          <a:p xmlns:a="http://schemas.openxmlformats.org/drawingml/2006/main">
            <a:pPr>
              <a:defRPr sz="1950">
                <a:solidFill>
                  <a:srgbClr val="002C22"/>
                </a:solidFill>
              </a:defRPr>
            </a:pPr>
            <a:r>
              <a:rPr sz="1950">
                <a:solidFill>
                  <a:srgbClr val="002C22"/>
                </a:solidFill>
              </a:rPr>
              <a:t>役割を分け、保守しやすい構成を目指しています。</a:t>
            </a:r>
          </a:p>
        </p:txBody>
      </p:sp>
    </p:spTree>
    <p:extLst>
      <p:ext uri="{BB962C8B-B14F-4D97-AF65-F5344CB8AC3E}">
        <p14:creationId xmlns:p14="http://schemas.microsoft.com/office/powerpoint/2010/main" val="122103917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AFA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46EADF1-E330-4253-86DC-660BE0E6F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C22"/>
          </a:solidFill>
          <a:ln xmlns:a="http://schemas.openxmlformats.org/drawingml/2006/main" w="0">
            <a:solidFill>
              <a:srgbClr val="002C2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3276EDD-D382-4C21-82DC-CB6A4AF60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6667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9A00"/>
          </a:solidFill>
          <a:ln xmlns:a="http://schemas.openxmlformats.org/drawingml/2006/main" w="0">
            <a:solidFill>
              <a:srgbClr val="FE9A00"/>
            </a:solidFill>
            <a:prstDash val="solid"/>
          </a:ln>
        </p:spPr>
      </p:sp>
      <p:sp>
        <p:nvSpPr>
          <p:cNvPr id="3" name="series-3">
            <a:extLst xmlns:a="http://schemas.openxmlformats.org/drawingml/2006/main">
              <a:ext uri="{FF2B5EF4-FFF2-40B4-BE49-F238E27FC236}">
                <a16:creationId xmlns:a16="http://schemas.microsoft.com/office/drawing/2014/main" id="{2B2F9C5B-54CB-48D3-9BAD-9A471899A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438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02C22"/>
                </a:solidFill>
              </a:defRPr>
            </a:pPr>
            <a:r>
              <a:rPr sz="1200" b="1">
                <a:solidFill>
                  <a:srgbClr val="002C22"/>
                </a:solidFill>
              </a:rPr>
              <a:t>積み上げログ  |  技術解説</a:t>
            </a:r>
          </a:p>
        </p:txBody>
      </p:sp>
      <p:sp>
        <p:nvSpPr>
          <p:cNvPr id="4" name="page-3">
            <a:extLst xmlns:a="http://schemas.openxmlformats.org/drawingml/2006/main">
              <a:ext uri="{FF2B5EF4-FFF2-40B4-BE49-F238E27FC236}">
                <a16:creationId xmlns:a16="http://schemas.microsoft.com/office/drawing/2014/main" id="{4D2F457D-9B35-4322-8007-5791910AE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6191250"/>
            <a:ext cx="66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7534D"/>
                </a:solidFill>
              </a:defRPr>
            </a:pPr>
            <a:r>
              <a:rPr sz="1050" b="1">
                <a:solidFill>
                  <a:srgbClr val="57534D"/>
                </a:solidFill>
              </a:rPr>
              <a:t>04</a:t>
            </a:r>
          </a:p>
        </p:txBody>
      </p:sp>
      <p:sp>
        <p:nvSpPr>
          <p:cNvPr id="5" name="title-3">
            <a:extLst xmlns:a="http://schemas.openxmlformats.org/drawingml/2006/main">
              <a:ext uri="{FF2B5EF4-FFF2-40B4-BE49-F238E27FC236}">
                <a16:creationId xmlns:a16="http://schemas.microsoft.com/office/drawing/2014/main" id="{A575B574-8B78-4DCF-B26F-0DAF35C72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90625"/>
            <a:ext cx="10382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002C22"/>
                </a:solidFill>
              </a:defRPr>
            </a:pPr>
            <a:r>
              <a:rPr sz="3150" b="1">
                <a:solidFill>
                  <a:srgbClr val="002C22"/>
                </a:solidFill>
              </a:rPr>
              <a:t>リポジトリの読みどころ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8845DCF-840F-43F8-97AB-598B73B7C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14625"/>
            <a:ext cx="10572750" cy="247650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ECFDF5"/>
          </a:solidFill>
          <a:ln xmlns:a="http://schemas.openxmlformats.org/drawingml/2006/main" w="9525">
            <a:solidFill>
              <a:srgbClr val="E7E5E4"/>
            </a:solidFill>
            <a:prstDash val="solid"/>
          </a:ln>
        </p:spPr>
      </p:sp>
      <p:sp>
        <p:nvSpPr>
          <p:cNvPr id="7" name="body-3">
            <a:extLst xmlns:a="http://schemas.openxmlformats.org/drawingml/2006/main">
              <a:ext uri="{FF2B5EF4-FFF2-40B4-BE49-F238E27FC236}">
                <a16:creationId xmlns:a16="http://schemas.microsoft.com/office/drawing/2014/main" id="{EB6DCDD4-335A-4360-9C71-E023B6E7D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095625"/>
            <a:ext cx="981075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002C22"/>
                </a:solidFill>
              </a:defRPr>
            </a:pPr>
            <a:r>
              <a:rPr sz="1950">
                <a:solidFill>
                  <a:srgbClr val="002C22"/>
                </a:solidFill>
              </a:rPr>
              <a:t>公開コード、README、コミット履歴から設計判断を確認できます。</a:t>
            </a:r>
          </a:p>
          <a:p xmlns:a="http://schemas.openxmlformats.org/drawingml/2006/main">
            <a:pPr>
              <a:defRPr sz="1950">
                <a:solidFill>
                  <a:srgbClr val="002C22"/>
                </a:solidFill>
              </a:defRPr>
            </a:pPr>
            <a:r>
              <a:rPr sz="1950">
                <a:solidFill>
                  <a:srgbClr val="002C22"/>
                </a:solidFill>
              </a:rPr>
              <a:t>主なファイル：主要なソースファイル</a:t>
            </a:r>
          </a:p>
        </p:txBody>
      </p:sp>
    </p:spTree>
    <p:extLst>
      <p:ext uri="{BB962C8B-B14F-4D97-AF65-F5344CB8AC3E}">
        <p14:creationId xmlns:p14="http://schemas.microsoft.com/office/powerpoint/2010/main" val="7812842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AFA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6E2BF42-982A-4D16-906B-8A1D97E3E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C22"/>
          </a:solidFill>
          <a:ln xmlns:a="http://schemas.openxmlformats.org/drawingml/2006/main" w="0">
            <a:solidFill>
              <a:srgbClr val="002C2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E29278C-7BC0-47F6-AE64-77190218B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6667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9A00"/>
          </a:solidFill>
          <a:ln xmlns:a="http://schemas.openxmlformats.org/drawingml/2006/main" w="0">
            <a:solidFill>
              <a:srgbClr val="FE9A00"/>
            </a:solidFill>
            <a:prstDash val="solid"/>
          </a:ln>
        </p:spPr>
      </p:sp>
      <p:sp>
        <p:nvSpPr>
          <p:cNvPr id="3" name="series-4">
            <a:extLst xmlns:a="http://schemas.openxmlformats.org/drawingml/2006/main">
              <a:ext uri="{FF2B5EF4-FFF2-40B4-BE49-F238E27FC236}">
                <a16:creationId xmlns:a16="http://schemas.microsoft.com/office/drawing/2014/main" id="{D601AE0B-E4AD-4CDB-A846-CA43A17A1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438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02C22"/>
                </a:solidFill>
              </a:defRPr>
            </a:pPr>
            <a:r>
              <a:rPr sz="1200" b="1">
                <a:solidFill>
                  <a:srgbClr val="002C22"/>
                </a:solidFill>
              </a:rPr>
              <a:t>積み上げログ  |  技術解説</a:t>
            </a:r>
          </a:p>
        </p:txBody>
      </p:sp>
      <p:sp>
        <p:nvSpPr>
          <p:cNvPr id="4" name="page-4">
            <a:extLst xmlns:a="http://schemas.openxmlformats.org/drawingml/2006/main">
              <a:ext uri="{FF2B5EF4-FFF2-40B4-BE49-F238E27FC236}">
                <a16:creationId xmlns:a16="http://schemas.microsoft.com/office/drawing/2014/main" id="{955E47A2-847A-4C84-9F06-5B8DE111C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6191250"/>
            <a:ext cx="66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7534D"/>
                </a:solidFill>
              </a:defRPr>
            </a:pPr>
            <a:r>
              <a:rPr sz="1050" b="1">
                <a:solidFill>
                  <a:srgbClr val="57534D"/>
                </a:solidFill>
              </a:rPr>
              <a:t>05</a:t>
            </a:r>
          </a:p>
        </p:txBody>
      </p:sp>
      <p:sp>
        <p:nvSpPr>
          <p:cNvPr id="5" name="title-4">
            <a:extLst xmlns:a="http://schemas.openxmlformats.org/drawingml/2006/main">
              <a:ext uri="{FF2B5EF4-FFF2-40B4-BE49-F238E27FC236}">
                <a16:creationId xmlns:a16="http://schemas.microsoft.com/office/drawing/2014/main" id="{CE06BD70-51DD-4FB2-9D18-4EE63AB11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90625"/>
            <a:ext cx="10382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002C22"/>
                </a:solidFill>
              </a:defRPr>
            </a:pPr>
            <a:r>
              <a:rPr sz="3150" b="1">
                <a:solidFill>
                  <a:srgbClr val="002C22"/>
                </a:solidFill>
              </a:rPr>
              <a:t>コミットから分かる改善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28E3244-F149-4286-A74A-B932033B6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14625"/>
            <a:ext cx="10572750" cy="247650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ECFDF5"/>
          </a:solidFill>
          <a:ln xmlns:a="http://schemas.openxmlformats.org/drawingml/2006/main" w="9525">
            <a:solidFill>
              <a:srgbClr val="E7E5E4"/>
            </a:solidFill>
            <a:prstDash val="solid"/>
          </a:ln>
        </p:spPr>
      </p:sp>
      <p:sp>
        <p:nvSpPr>
          <p:cNvPr id="7" name="body-4">
            <a:extLst xmlns:a="http://schemas.openxmlformats.org/drawingml/2006/main">
              <a:ext uri="{FF2B5EF4-FFF2-40B4-BE49-F238E27FC236}">
                <a16:creationId xmlns:a16="http://schemas.microsoft.com/office/drawing/2014/main" id="{9C8DF6D4-858D-4131-8A24-AF405A6FD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095625"/>
            <a:ext cx="981075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002C22"/>
                </a:solidFill>
              </a:defRPr>
            </a:pPr>
            <a:r>
              <a:rPr sz="1950">
                <a:solidFill>
                  <a:srgbClr val="002C22"/>
                </a:solidFill>
              </a:rPr>
              <a:t>直近のコミットでは、実装の見直しと継続的な改善が行われました。</a:t>
            </a:r>
          </a:p>
        </p:txBody>
      </p:sp>
    </p:spTree>
    <p:extLst>
      <p:ext uri="{BB962C8B-B14F-4D97-AF65-F5344CB8AC3E}">
        <p14:creationId xmlns:p14="http://schemas.microsoft.com/office/powerpoint/2010/main" val="203349309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AFA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0F51104-F197-428E-A3C5-AD4C0C91F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C22"/>
          </a:solidFill>
          <a:ln xmlns:a="http://schemas.openxmlformats.org/drawingml/2006/main" w="0">
            <a:solidFill>
              <a:srgbClr val="002C2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B5DCCC2-7541-421D-808B-5A9F4401C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6667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9A00"/>
          </a:solidFill>
          <a:ln xmlns:a="http://schemas.openxmlformats.org/drawingml/2006/main" w="0">
            <a:solidFill>
              <a:srgbClr val="FE9A00"/>
            </a:solidFill>
            <a:prstDash val="solid"/>
          </a:ln>
        </p:spPr>
      </p:sp>
      <p:sp>
        <p:nvSpPr>
          <p:cNvPr id="3" name="series-5">
            <a:extLst xmlns:a="http://schemas.openxmlformats.org/drawingml/2006/main">
              <a:ext uri="{FF2B5EF4-FFF2-40B4-BE49-F238E27FC236}">
                <a16:creationId xmlns:a16="http://schemas.microsoft.com/office/drawing/2014/main" id="{CC315404-103F-4C53-A953-136534F37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438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02C22"/>
                </a:solidFill>
              </a:defRPr>
            </a:pPr>
            <a:r>
              <a:rPr sz="1200" b="1">
                <a:solidFill>
                  <a:srgbClr val="002C22"/>
                </a:solidFill>
              </a:rPr>
              <a:t>積み上げログ  |  技術解説</a:t>
            </a:r>
          </a:p>
        </p:txBody>
      </p:sp>
      <p:sp>
        <p:nvSpPr>
          <p:cNvPr id="4" name="page-5">
            <a:extLst xmlns:a="http://schemas.openxmlformats.org/drawingml/2006/main">
              <a:ext uri="{FF2B5EF4-FFF2-40B4-BE49-F238E27FC236}">
                <a16:creationId xmlns:a16="http://schemas.microsoft.com/office/drawing/2014/main" id="{F6BA6C28-FA08-463F-940E-A60414CC1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6191250"/>
            <a:ext cx="66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7534D"/>
                </a:solidFill>
              </a:defRPr>
            </a:pPr>
            <a:r>
              <a:rPr sz="1050" b="1">
                <a:solidFill>
                  <a:srgbClr val="57534D"/>
                </a:solidFill>
              </a:rPr>
              <a:t>06</a:t>
            </a:r>
          </a:p>
        </p:txBody>
      </p:sp>
      <p:sp>
        <p:nvSpPr>
          <p:cNvPr id="5" name="title-5">
            <a:extLst xmlns:a="http://schemas.openxmlformats.org/drawingml/2006/main">
              <a:ext uri="{FF2B5EF4-FFF2-40B4-BE49-F238E27FC236}">
                <a16:creationId xmlns:a16="http://schemas.microsoft.com/office/drawing/2014/main" id="{DDB6E06C-6678-4429-A3CD-EEFB8B0CF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90625"/>
            <a:ext cx="10382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002C22"/>
                </a:solidFill>
              </a:defRPr>
            </a:pPr>
            <a:r>
              <a:rPr sz="3150" b="1">
                <a:solidFill>
                  <a:srgbClr val="002C22"/>
                </a:solidFill>
              </a:rPr>
              <a:t>詳しくは積み上げログへ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E470FF1-0002-4E5B-A62D-6E1FF37F0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14625"/>
            <a:ext cx="10572750" cy="247650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ECFDF5"/>
          </a:solidFill>
          <a:ln xmlns:a="http://schemas.openxmlformats.org/drawingml/2006/main" w="9525">
            <a:solidFill>
              <a:srgbClr val="E7E5E4"/>
            </a:solidFill>
            <a:prstDash val="solid"/>
          </a:ln>
        </p:spPr>
      </p:sp>
      <p:sp>
        <p:nvSpPr>
          <p:cNvPr id="7" name="body-5">
            <a:extLst xmlns:a="http://schemas.openxmlformats.org/drawingml/2006/main">
              <a:ext uri="{FF2B5EF4-FFF2-40B4-BE49-F238E27FC236}">
                <a16:creationId xmlns:a16="http://schemas.microsoft.com/office/drawing/2014/main" id="{C76247FB-9F47-411C-86E6-393ABC193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095625"/>
            <a:ext cx="981075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002C22"/>
                </a:solidFill>
              </a:defRPr>
            </a:pPr>
            <a:r>
              <a:rPr sz="1950">
                <a:solidFill>
                  <a:srgbClr val="002C22"/>
                </a:solidFill>
              </a:rPr>
              <a:t>記事： https://syunnjack.dev/articles/inid-comunity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950">
                <a:solidFill>
                  <a:srgbClr val="002C22"/>
                </a:solidFill>
              </a:defRPr>
            </a:pPr>
            <a:r>
              <a:rPr sz="1950">
                <a:solidFill>
                  <a:srgbClr val="002C22"/>
                </a:solidFill>
              </a:rPr>
              <a:t>学び、作り、振り返る開発記録。</a:t>
            </a:r>
          </a:p>
        </p:txBody>
      </p:sp>
    </p:spTree>
    <p:extLst>
      <p:ext uri="{BB962C8B-B14F-4D97-AF65-F5344CB8AC3E}">
        <p14:creationId xmlns:p14="http://schemas.microsoft.com/office/powerpoint/2010/main" val="165516882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2026-08-12T15:26:53.6310000Z</dcterms:created>
  <dcterms:modified xsi:type="dcterms:W3CDTF">2026-08-12T15:26:53.6310000Z</dcterms:modified>
</coreProperties>
</file>