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av" ContentType="audio/x-wav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sldSz cx="12192000" cy="6858000"/>
  <p:notesSz cx="6858000" cy="9144000"/>
  <p:defaultTextStyle>
    <a:defPPr>
      <a:defRPr lang="ja-JP"/>
    </a:defPPr>
    <a:lvl1pPr marL="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35" d="100"/>
          <a:sy n="35" d="100"/>
        </p:scale>
        <p:origin x="996" y="4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4D817F98-F90C-468B-11E5-A172E4BEF24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字幕 2">
            <a:extLst>
              <a:ext uri="{FF2B5EF4-FFF2-40B4-BE49-F238E27FC236}">
                <a16:creationId xmlns:a16="http://schemas.microsoft.com/office/drawing/2014/main" id="{AAC575B5-A406-C01E-8772-6AF1A64DCB4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ja-JP" altLang="en-US"/>
              <a:t>マスター サブタイトルの書式設定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06156412-1381-F890-2643-8CB3C6AD956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03F04C-E76C-4633-818E-73CD24F44AAC}" type="datetimeFigureOut">
              <a:rPr kumimoji="1" lang="ja-JP" altLang="en-US" smtClean="0"/>
              <a:t>2026/7/30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A2252A43-40BB-208F-34D6-FD6416C843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DCFC65F1-CAC9-D118-62C8-506ADF9D08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0103F1-F9BE-4943-ACF2-437C6ECA534A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83090715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A3AED613-77B9-98C5-BE2A-D51F7168C2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4332B59A-646E-5A34-EE62-7639601F7FF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CEF9E9CE-870D-F25E-DAEC-DBE0DC0D7E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03F04C-E76C-4633-818E-73CD24F44AAC}" type="datetimeFigureOut">
              <a:rPr kumimoji="1" lang="ja-JP" altLang="en-US" smtClean="0"/>
              <a:t>2026/7/30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460F9E0E-9347-2632-823F-FAE5D00B87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237DCEFE-D8A2-69BF-ED82-3F2F8CBB45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0103F1-F9BE-4943-ACF2-437C6ECA534A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34398459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037990E5-27F2-BDA5-7D17-CF65426307D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4CE1DF6A-C4A0-EA9A-E757-DB87872FCB8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C2F7A182-F2D5-E0D5-1317-E408557F1D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03F04C-E76C-4633-818E-73CD24F44AAC}" type="datetimeFigureOut">
              <a:rPr kumimoji="1" lang="ja-JP" altLang="en-US" smtClean="0"/>
              <a:t>2026/7/30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3B68830A-4F68-2EE8-E109-286E784836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1DBF0082-BC2A-3F69-BD0B-3CF7914931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0103F1-F9BE-4943-ACF2-437C6ECA534A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72932118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DA227FF4-8C1E-1734-284F-B7329B7D81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07037D6E-077E-CD45-3F3C-EDC717B30AF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D5EBF92C-F964-5BE2-B962-D0F67A6251B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B3BCA861-C73D-E80B-8855-45F467C607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03F04C-E76C-4633-818E-73CD24F44AAC}" type="datetimeFigureOut">
              <a:rPr kumimoji="1" lang="ja-JP" altLang="en-US" smtClean="0"/>
              <a:t>2026/7/30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D3DBD5A5-92C0-2707-7E0D-1C83BF51B1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8CBFB143-936D-76E1-237C-98900D668A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0103F1-F9BE-4943-ACF2-437C6ECA534A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61198313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C6216966-87BD-A4C2-B294-0BDBB13F8E9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A20683A2-9F3E-2E53-F2B1-93A4E259E00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2C48FE44-3553-92B3-2E6D-0CEF94704B2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テキスト プレースホルダー 4">
            <a:extLst>
              <a:ext uri="{FF2B5EF4-FFF2-40B4-BE49-F238E27FC236}">
                <a16:creationId xmlns:a16="http://schemas.microsoft.com/office/drawing/2014/main" id="{9BA4A225-1470-CA97-9068-BDE13CE083D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6" name="コンテンツ プレースホルダー 5">
            <a:extLst>
              <a:ext uri="{FF2B5EF4-FFF2-40B4-BE49-F238E27FC236}">
                <a16:creationId xmlns:a16="http://schemas.microsoft.com/office/drawing/2014/main" id="{C2A2394D-A13F-ECAD-D7D0-A0AFBF294FC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7" name="日付プレースホルダー 6">
            <a:extLst>
              <a:ext uri="{FF2B5EF4-FFF2-40B4-BE49-F238E27FC236}">
                <a16:creationId xmlns:a16="http://schemas.microsoft.com/office/drawing/2014/main" id="{9C57CAFD-690C-95B3-D97A-A15C9D1619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03F04C-E76C-4633-818E-73CD24F44AAC}" type="datetimeFigureOut">
              <a:rPr kumimoji="1" lang="ja-JP" altLang="en-US" smtClean="0"/>
              <a:t>2026/7/30</a:t>
            </a:fld>
            <a:endParaRPr kumimoji="1" lang="ja-JP" altLang="en-US"/>
          </a:p>
        </p:txBody>
      </p:sp>
      <p:sp>
        <p:nvSpPr>
          <p:cNvPr id="8" name="フッター プレースホルダー 7">
            <a:extLst>
              <a:ext uri="{FF2B5EF4-FFF2-40B4-BE49-F238E27FC236}">
                <a16:creationId xmlns:a16="http://schemas.microsoft.com/office/drawing/2014/main" id="{E3F8A186-CBC3-ABD0-5688-2BC89F4656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9" name="スライド番号プレースホルダー 8">
            <a:extLst>
              <a:ext uri="{FF2B5EF4-FFF2-40B4-BE49-F238E27FC236}">
                <a16:creationId xmlns:a16="http://schemas.microsoft.com/office/drawing/2014/main" id="{4890F0C7-3054-6852-4598-7F1EB02CAC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0103F1-F9BE-4943-ACF2-437C6ECA534A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51977265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E2158A02-B5D1-B176-0EDB-892F6BA477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日付プレースホルダー 2">
            <a:extLst>
              <a:ext uri="{FF2B5EF4-FFF2-40B4-BE49-F238E27FC236}">
                <a16:creationId xmlns:a16="http://schemas.microsoft.com/office/drawing/2014/main" id="{8F334ACD-AF6F-B1EF-92DA-2D80C78BC1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03F04C-E76C-4633-818E-73CD24F44AAC}" type="datetimeFigureOut">
              <a:rPr kumimoji="1" lang="ja-JP" altLang="en-US" smtClean="0"/>
              <a:t>2026/7/30</a:t>
            </a:fld>
            <a:endParaRPr kumimoji="1" lang="ja-JP" altLang="en-US"/>
          </a:p>
        </p:txBody>
      </p:sp>
      <p:sp>
        <p:nvSpPr>
          <p:cNvPr id="4" name="フッター プレースホルダー 3">
            <a:extLst>
              <a:ext uri="{FF2B5EF4-FFF2-40B4-BE49-F238E27FC236}">
                <a16:creationId xmlns:a16="http://schemas.microsoft.com/office/drawing/2014/main" id="{F621488F-3DDB-FAAF-A930-6F7BDC5BD9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5" name="スライド番号プレースホルダー 4">
            <a:extLst>
              <a:ext uri="{FF2B5EF4-FFF2-40B4-BE49-F238E27FC236}">
                <a16:creationId xmlns:a16="http://schemas.microsoft.com/office/drawing/2014/main" id="{55C40710-09E3-22B4-99D7-A2736CA7B3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0103F1-F9BE-4943-ACF2-437C6ECA534A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83937599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付プレースホルダー 1">
            <a:extLst>
              <a:ext uri="{FF2B5EF4-FFF2-40B4-BE49-F238E27FC236}">
                <a16:creationId xmlns:a16="http://schemas.microsoft.com/office/drawing/2014/main" id="{59E56286-E8BF-24D3-BEC8-5C82A56ACC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03F04C-E76C-4633-818E-73CD24F44AAC}" type="datetimeFigureOut">
              <a:rPr kumimoji="1" lang="ja-JP" altLang="en-US" smtClean="0"/>
              <a:t>2026/7/30</a:t>
            </a:fld>
            <a:endParaRPr kumimoji="1" lang="ja-JP" altLang="en-US"/>
          </a:p>
        </p:txBody>
      </p:sp>
      <p:sp>
        <p:nvSpPr>
          <p:cNvPr id="3" name="フッター プレースホルダー 2">
            <a:extLst>
              <a:ext uri="{FF2B5EF4-FFF2-40B4-BE49-F238E27FC236}">
                <a16:creationId xmlns:a16="http://schemas.microsoft.com/office/drawing/2014/main" id="{44138E83-854A-6EDA-07BC-C5268A0403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58EA0C19-BE16-6391-6254-0D2E86488C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0103F1-F9BE-4943-ACF2-437C6ECA534A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61597228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CCEF4BCF-41E2-3F1D-445B-03690E0B25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3EBB5584-5E53-BFCD-BA6D-D0A5C4FAA27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9134E672-88C5-FD36-0B95-89ACD42241A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0D448459-60BF-2187-28B3-6C9F1A4341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03F04C-E76C-4633-818E-73CD24F44AAC}" type="datetimeFigureOut">
              <a:rPr kumimoji="1" lang="ja-JP" altLang="en-US" smtClean="0"/>
              <a:t>2026/7/30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5A3065E7-1735-ED36-1BBF-DA8428DE19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20462C76-6EF0-C9DB-D83F-8D5DD113E8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0103F1-F9BE-4943-ACF2-437C6ECA534A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06516034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AE0FBFDB-CCEF-2704-B4D1-929B6B836C1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図プレースホルダー 2">
            <a:extLst>
              <a:ext uri="{FF2B5EF4-FFF2-40B4-BE49-F238E27FC236}">
                <a16:creationId xmlns:a16="http://schemas.microsoft.com/office/drawing/2014/main" id="{7DEBAFFA-2212-C625-4F09-D83D4EE6119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ja-JP" altLang="en-US"/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AF75BC34-0622-626D-6238-F0FD161A472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41080123-A5D4-5374-9A8E-3AD6E1D39DE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03F04C-E76C-4633-818E-73CD24F44AAC}" type="datetimeFigureOut">
              <a:rPr kumimoji="1" lang="ja-JP" altLang="en-US" smtClean="0"/>
              <a:t>2026/7/30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4B2E457A-0F4B-A0F8-D4FF-CF54B43CF8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697D0DAB-17B6-ED57-ED4C-B182801B50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0103F1-F9BE-4943-ACF2-437C6ECA534A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40743364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46BF4449-F4C7-5E1B-70F9-421C926478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7D53CD55-1C54-1310-2549-21D63E1444D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51C80DAA-7AE3-C3A3-58D3-57D952800CA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03F04C-E76C-4633-818E-73CD24F44AAC}" type="datetimeFigureOut">
              <a:rPr kumimoji="1" lang="ja-JP" altLang="en-US" smtClean="0"/>
              <a:t>2026/7/30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7F0683D9-9707-1EA7-A982-D6D0FD4EBC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7B25473C-9D98-41AE-1773-35A880E472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0103F1-F9BE-4943-ACF2-437C6ECA534A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53738253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縦書きタイトル 1">
            <a:extLst>
              <a:ext uri="{FF2B5EF4-FFF2-40B4-BE49-F238E27FC236}">
                <a16:creationId xmlns:a16="http://schemas.microsoft.com/office/drawing/2014/main" id="{381E17F8-1DF9-BF46-B6DF-6FCE1056502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A1E59EC6-C80D-CAD7-F67F-71B523A470F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39869683-7FAD-6E74-C57F-E17D2D9FF55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03F04C-E76C-4633-818E-73CD24F44AAC}" type="datetimeFigureOut">
              <a:rPr kumimoji="1" lang="ja-JP" altLang="en-US" smtClean="0"/>
              <a:t>2026/7/30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2E8BE3D6-C8F4-21CB-C8F5-2E0D316F52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D5D88F0B-3234-5E71-F2AF-69D3E32013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0103F1-F9BE-4943-ACF2-437C6ECA534A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99784244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プレースホルダー 1">
            <a:extLst>
              <a:ext uri="{FF2B5EF4-FFF2-40B4-BE49-F238E27FC236}">
                <a16:creationId xmlns:a16="http://schemas.microsoft.com/office/drawing/2014/main" id="{89940082-8AF5-5DB9-97D5-ABA2537640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C9D6998C-B201-26AC-A5FB-B6EB2ED0723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F8E37287-26B3-6FC8-21BB-B4B09666498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703F04C-E76C-4633-818E-73CD24F44AAC}" type="datetimeFigureOut">
              <a:rPr kumimoji="1" lang="ja-JP" altLang="en-US" smtClean="0"/>
              <a:t>2026/7/30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E95CEAFD-CECB-31E8-C1E5-D86F89BEFD8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177220D8-F472-9BA4-AFDD-CE22F26FB5A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10103F1-F9BE-4943-ACF2-437C6ECA534A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77514099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kumimoji="1"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audio" Target="../media/media1.wav"/><Relationship Id="rId1" Type="http://schemas.microsoft.com/office/2007/relationships/media" Target="../media/media1.wav"/><Relationship Id="rId4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audio" Target="../media/media2.wav"/><Relationship Id="rId1" Type="http://schemas.microsoft.com/office/2007/relationships/media" Target="../media/media2.wav"/><Relationship Id="rId4" Type="http://schemas.openxmlformats.org/officeDocument/2006/relationships/image" Target="../media/image1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audio" Target="../media/media3.wav"/><Relationship Id="rId1" Type="http://schemas.microsoft.com/office/2007/relationships/media" Target="../media/media3.wav"/><Relationship Id="rId4" Type="http://schemas.openxmlformats.org/officeDocument/2006/relationships/image" Target="../media/image1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audio" Target="../media/media4.wav"/><Relationship Id="rId1" Type="http://schemas.microsoft.com/office/2007/relationships/media" Target="../media/media4.wav"/><Relationship Id="rId4" Type="http://schemas.openxmlformats.org/officeDocument/2006/relationships/image" Target="../media/image1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audio" Target="../media/media5.wav"/><Relationship Id="rId1" Type="http://schemas.microsoft.com/office/2007/relationships/media" Target="../media/media5.wav"/><Relationship Id="rId4" Type="http://schemas.openxmlformats.org/officeDocument/2006/relationships/image" Target="../media/image1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audio" Target="../media/media6.wav"/><Relationship Id="rId1" Type="http://schemas.microsoft.com/office/2007/relationships/media" Target="../media/media6.wav"/><Relationship Id="rId4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テキスト ボックス 1">
            <a:extLst>
              <a:ext uri="{FF2B5EF4-FFF2-40B4-BE49-F238E27FC236}">
                <a16:creationId xmlns:a16="http://schemas.microsoft.com/office/drawing/2014/main" id="{888829C2-8A85-73BD-4584-37E4B7936AF9}"/>
              </a:ext>
            </a:extLst>
          </p:cNvPr>
          <p:cNvSpPr txBox="1"/>
          <p:nvPr/>
        </p:nvSpPr>
        <p:spPr>
          <a:xfrm>
            <a:off x="533400" y="406400"/>
            <a:ext cx="10795000" cy="33855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en-US" altLang="ja-JP" sz="1600" b="1">
                <a:solidFill>
                  <a:srgbClr val="556F35"/>
                </a:solidFill>
                <a:latin typeface="Arial" panose="020B0604020202020204" pitchFamily="34" charset="0"/>
              </a:rPr>
              <a:t>TSUMIAGE LOG / TECH VIDEO</a:t>
            </a:r>
            <a:endParaRPr kumimoji="1" lang="ja-JP" altLang="en-US" sz="1600" b="1">
              <a:solidFill>
                <a:srgbClr val="556F35"/>
              </a:solidFill>
              <a:latin typeface="Arial" panose="020B0604020202020204" pitchFamily="34" charset="0"/>
            </a:endParaRPr>
          </a:p>
        </p:txBody>
      </p:sp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8E8BBEF3-C8ED-6D46-E8C6-AD1ACF9666FF}"/>
              </a:ext>
            </a:extLst>
          </p:cNvPr>
          <p:cNvSpPr txBox="1"/>
          <p:nvPr/>
        </p:nvSpPr>
        <p:spPr>
          <a:xfrm>
            <a:off x="533400" y="1651000"/>
            <a:ext cx="10795000" cy="615553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en-US" altLang="ja-JP" sz="3400" b="1">
                <a:solidFill>
                  <a:srgbClr val="111111"/>
                </a:solidFill>
                <a:latin typeface="Arial" panose="020B0604020202020204" pitchFamily="34" charset="0"/>
              </a:rPr>
              <a:t>Netcafe Seat Watch</a:t>
            </a:r>
            <a:r>
              <a:rPr kumimoji="1" lang="ja-JP" altLang="en-US" sz="3400" b="1">
                <a:solidFill>
                  <a:srgbClr val="111111"/>
                </a:solidFill>
                <a:latin typeface="Arial" panose="020B0604020202020204" pitchFamily="34" charset="0"/>
              </a:rPr>
              <a:t>の技術解説</a:t>
            </a:r>
          </a:p>
        </p:txBody>
      </p:sp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AF31283F-65B6-909E-7D00-699DF71DBE3E}"/>
              </a:ext>
            </a:extLst>
          </p:cNvPr>
          <p:cNvSpPr txBox="1"/>
          <p:nvPr/>
        </p:nvSpPr>
        <p:spPr>
          <a:xfrm>
            <a:off x="533400" y="3429000"/>
            <a:ext cx="10795000" cy="40011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ja-JP" altLang="en-US" sz="2000">
                <a:solidFill>
                  <a:srgbClr val="333333"/>
                </a:solidFill>
                <a:latin typeface="Arial" panose="020B0604020202020204" pitchFamily="34" charset="0"/>
              </a:rPr>
              <a:t>設計・実装・コミットから学ぶ短時間プレビュー</a:t>
            </a:r>
          </a:p>
        </p:txBody>
      </p:sp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FA48FB93-731C-D9D7-5135-275659AB7E4C}"/>
              </a:ext>
            </a:extLst>
          </p:cNvPr>
          <p:cNvSpPr txBox="1"/>
          <p:nvPr/>
        </p:nvSpPr>
        <p:spPr>
          <a:xfrm>
            <a:off x="11112500" y="6223000"/>
            <a:ext cx="571500" cy="24622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en-US" altLang="ja-JP" sz="1000">
                <a:solidFill>
                  <a:srgbClr val="666666"/>
                </a:solidFill>
                <a:latin typeface="Arial" panose="020B0604020202020204" pitchFamily="34" charset="0"/>
              </a:rPr>
              <a:t>01</a:t>
            </a:r>
            <a:endParaRPr kumimoji="1" lang="ja-JP" altLang="en-US" sz="1000">
              <a:solidFill>
                <a:srgbClr val="666666"/>
              </a:solidFill>
              <a:latin typeface="Arial" panose="020B0604020202020204" pitchFamily="34" charset="0"/>
            </a:endParaRPr>
          </a:p>
        </p:txBody>
      </p:sp>
      <p:pic>
        <p:nvPicPr>
          <p:cNvPr id="6" name="slide-01">
            <a:hlinkClick r:id="" action="ppaction://media"/>
            <a:extLst>
              <a:ext uri="{FF2B5EF4-FFF2-40B4-BE49-F238E27FC236}">
                <a16:creationId xmlns:a16="http://schemas.microsoft.com/office/drawing/2014/main" id="{9D35AC49-CD59-2971-100E-CB461A8D6EF6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5892800" y="3225800"/>
            <a:ext cx="12700" cy="12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32232005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6000"/>
    </mc:Choice>
    <mc:Fallback>
      <p:transition spd="slow" advTm="6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5612" fill="hold"/>
                                        <p:tgtEl>
                                          <p:spTgt spid="6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6"/>
                </p:tgtEl>
              </p:cMediaNode>
            </p:audio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テキスト ボックス 1">
            <a:extLst>
              <a:ext uri="{FF2B5EF4-FFF2-40B4-BE49-F238E27FC236}">
                <a16:creationId xmlns:a16="http://schemas.microsoft.com/office/drawing/2014/main" id="{B74FA436-C1A6-CEB5-2F82-871B5877895A}"/>
              </a:ext>
            </a:extLst>
          </p:cNvPr>
          <p:cNvSpPr txBox="1"/>
          <p:nvPr/>
        </p:nvSpPr>
        <p:spPr>
          <a:xfrm>
            <a:off x="533400" y="406400"/>
            <a:ext cx="10795000" cy="33855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en-US" altLang="ja-JP" sz="1600" b="1">
                <a:solidFill>
                  <a:srgbClr val="556F35"/>
                </a:solidFill>
                <a:latin typeface="Arial" panose="020B0604020202020204" pitchFamily="34" charset="0"/>
              </a:rPr>
              <a:t>TSUMIAGE LOG / TECH VIDEO</a:t>
            </a:r>
            <a:endParaRPr kumimoji="1" lang="ja-JP" altLang="en-US" sz="1600" b="1">
              <a:solidFill>
                <a:srgbClr val="556F35"/>
              </a:solidFill>
              <a:latin typeface="Arial" panose="020B0604020202020204" pitchFamily="34" charset="0"/>
            </a:endParaRPr>
          </a:p>
        </p:txBody>
      </p:sp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5EED3DA1-20BC-7896-16FA-1A9237AD1A14}"/>
              </a:ext>
            </a:extLst>
          </p:cNvPr>
          <p:cNvSpPr txBox="1"/>
          <p:nvPr/>
        </p:nvSpPr>
        <p:spPr>
          <a:xfrm>
            <a:off x="533400" y="1651000"/>
            <a:ext cx="10795000" cy="615553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ja-JP" altLang="en-US" sz="3400" b="1">
                <a:solidFill>
                  <a:srgbClr val="111111"/>
                </a:solidFill>
                <a:latin typeface="Arial" panose="020B0604020202020204" pitchFamily="34" charset="0"/>
              </a:rPr>
              <a:t>このプロジェクトは何を解決する？</a:t>
            </a:r>
          </a:p>
        </p:txBody>
      </p:sp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96179610-7073-CCF2-3EAA-51FFDB9D0180}"/>
              </a:ext>
            </a:extLst>
          </p:cNvPr>
          <p:cNvSpPr txBox="1"/>
          <p:nvPr/>
        </p:nvSpPr>
        <p:spPr>
          <a:xfrm>
            <a:off x="533400" y="3429000"/>
            <a:ext cx="10795000" cy="707886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en-US" altLang="ja-JP" sz="2000">
                <a:solidFill>
                  <a:srgbClr val="333333"/>
                </a:solidFill>
                <a:latin typeface="Arial" panose="020B0604020202020204" pitchFamily="34" charset="0"/>
              </a:rPr>
              <a:t>Netcafe Seat Watch </a:t>
            </a:r>
            <a:r>
              <a:rPr kumimoji="1" lang="ja-JP" altLang="en-US" sz="2000">
                <a:solidFill>
                  <a:srgbClr val="333333"/>
                </a:solidFill>
                <a:latin typeface="Arial" panose="020B0604020202020204" pitchFamily="34" charset="0"/>
              </a:rPr>
              <a:t>漫画喫茶・ネットカフェ空席</a:t>
            </a:r>
            <a:r>
              <a:rPr kumimoji="1" lang="en-US" altLang="ja-JP" sz="2000">
                <a:solidFill>
                  <a:srgbClr val="333333"/>
                </a:solidFill>
                <a:latin typeface="Arial" panose="020B0604020202020204" pitchFamily="34" charset="0"/>
              </a:rPr>
              <a:t>/</a:t>
            </a:r>
            <a:r>
              <a:rPr kumimoji="1" lang="ja-JP" altLang="en-US" sz="2000">
                <a:solidFill>
                  <a:srgbClr val="333333"/>
                </a:solidFill>
                <a:latin typeface="Arial" panose="020B0604020202020204" pitchFamily="34" charset="0"/>
              </a:rPr>
              <a:t>シャワー通知 </a:t>
            </a:r>
            <a:r>
              <a:rPr kumimoji="1" lang="en-US" altLang="ja-JP" sz="2000">
                <a:solidFill>
                  <a:srgbClr val="333333"/>
                </a:solidFill>
                <a:latin typeface="Arial" panose="020B0604020202020204" pitchFamily="34" charset="0"/>
              </a:rPr>
              <a:t>Repository Recommended repository name: netcafe seat watch Domain candidates Confirmed domain: netcafeseat</a:t>
            </a:r>
            <a:endParaRPr kumimoji="1" lang="ja-JP" altLang="en-US" sz="2000">
              <a:solidFill>
                <a:srgbClr val="333333"/>
              </a:solidFill>
              <a:latin typeface="Arial" panose="020B0604020202020204" pitchFamily="34" charset="0"/>
            </a:endParaRPr>
          </a:p>
        </p:txBody>
      </p:sp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54E64234-F2B0-33A9-2AF4-3AEBBC31C542}"/>
              </a:ext>
            </a:extLst>
          </p:cNvPr>
          <p:cNvSpPr txBox="1"/>
          <p:nvPr/>
        </p:nvSpPr>
        <p:spPr>
          <a:xfrm>
            <a:off x="11112500" y="6223000"/>
            <a:ext cx="571500" cy="24622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en-US" altLang="ja-JP" sz="1000">
                <a:solidFill>
                  <a:srgbClr val="666666"/>
                </a:solidFill>
                <a:latin typeface="Arial" panose="020B0604020202020204" pitchFamily="34" charset="0"/>
              </a:rPr>
              <a:t>02</a:t>
            </a:r>
            <a:endParaRPr kumimoji="1" lang="ja-JP" altLang="en-US" sz="1000">
              <a:solidFill>
                <a:srgbClr val="666666"/>
              </a:solidFill>
              <a:latin typeface="Arial" panose="020B0604020202020204" pitchFamily="34" charset="0"/>
            </a:endParaRPr>
          </a:p>
        </p:txBody>
      </p:sp>
      <p:pic>
        <p:nvPicPr>
          <p:cNvPr id="6" name="slide-02">
            <a:hlinkClick r:id="" action="ppaction://media"/>
            <a:extLst>
              <a:ext uri="{FF2B5EF4-FFF2-40B4-BE49-F238E27FC236}">
                <a16:creationId xmlns:a16="http://schemas.microsoft.com/office/drawing/2014/main" id="{750645C5-E6E0-38E8-4E5A-62FA32F9F35B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5892800" y="3225800"/>
            <a:ext cx="12700" cy="12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10480879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13000"/>
    </mc:Choice>
    <mc:Fallback>
      <p:transition spd="slow" advTm="13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2863" fill="hold"/>
                                        <p:tgtEl>
                                          <p:spTgt spid="6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6"/>
                </p:tgtEl>
              </p:cMediaNode>
            </p:audio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テキスト ボックス 1">
            <a:extLst>
              <a:ext uri="{FF2B5EF4-FFF2-40B4-BE49-F238E27FC236}">
                <a16:creationId xmlns:a16="http://schemas.microsoft.com/office/drawing/2014/main" id="{0AEA907B-4E33-CB77-D04F-F572869065F7}"/>
              </a:ext>
            </a:extLst>
          </p:cNvPr>
          <p:cNvSpPr txBox="1"/>
          <p:nvPr/>
        </p:nvSpPr>
        <p:spPr>
          <a:xfrm>
            <a:off x="533400" y="406400"/>
            <a:ext cx="10795000" cy="33855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en-US" altLang="ja-JP" sz="1600" b="1">
                <a:solidFill>
                  <a:srgbClr val="556F35"/>
                </a:solidFill>
                <a:latin typeface="Arial" panose="020B0604020202020204" pitchFamily="34" charset="0"/>
              </a:rPr>
              <a:t>TSUMIAGE LOG / TECH VIDEO</a:t>
            </a:r>
            <a:endParaRPr kumimoji="1" lang="ja-JP" altLang="en-US" sz="1600" b="1">
              <a:solidFill>
                <a:srgbClr val="556F35"/>
              </a:solidFill>
              <a:latin typeface="Arial" panose="020B0604020202020204" pitchFamily="34" charset="0"/>
            </a:endParaRPr>
          </a:p>
        </p:txBody>
      </p:sp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7ED20223-4D94-86F1-CEBD-F5723AE98535}"/>
              </a:ext>
            </a:extLst>
          </p:cNvPr>
          <p:cNvSpPr txBox="1"/>
          <p:nvPr/>
        </p:nvSpPr>
        <p:spPr>
          <a:xfrm>
            <a:off x="533400" y="1651000"/>
            <a:ext cx="10795000" cy="615553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ja-JP" altLang="en-US" sz="3400" b="1">
                <a:solidFill>
                  <a:srgbClr val="111111"/>
                </a:solidFill>
                <a:latin typeface="Arial" panose="020B0604020202020204" pitchFamily="34" charset="0"/>
              </a:rPr>
              <a:t>技術スタック</a:t>
            </a:r>
          </a:p>
        </p:txBody>
      </p:sp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AFEA6C79-A564-652B-176A-CE469D2A803E}"/>
              </a:ext>
            </a:extLst>
          </p:cNvPr>
          <p:cNvSpPr txBox="1"/>
          <p:nvPr/>
        </p:nvSpPr>
        <p:spPr>
          <a:xfrm>
            <a:off x="533400" y="3429000"/>
            <a:ext cx="10795000" cy="707886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ja-JP" altLang="en-US" sz="2000">
                <a:solidFill>
                  <a:srgbClr val="333333"/>
                </a:solidFill>
                <a:latin typeface="Arial" panose="020B0604020202020204" pitchFamily="34" charset="0"/>
              </a:rPr>
              <a:t>主要技術：</a:t>
            </a:r>
            <a:r>
              <a:rPr kumimoji="1" lang="en-US" altLang="ja-JP" sz="2000">
                <a:solidFill>
                  <a:srgbClr val="333333"/>
                </a:solidFill>
                <a:latin typeface="Arial" panose="020B0604020202020204" pitchFamily="34" charset="0"/>
              </a:rPr>
              <a:t>JavaScript</a:t>
            </a:r>
            <a:r>
              <a:rPr kumimoji="1" lang="ja-JP" altLang="en-US" sz="2000">
                <a:solidFill>
                  <a:srgbClr val="333333"/>
                </a:solidFill>
                <a:latin typeface="Arial" panose="020B0604020202020204" pitchFamily="34" charset="0"/>
              </a:rPr>
              <a:t>・</a:t>
            </a:r>
            <a:r>
              <a:rPr kumimoji="1" lang="en-US" altLang="ja-JP" sz="2000">
                <a:solidFill>
                  <a:srgbClr val="333333"/>
                </a:solidFill>
                <a:latin typeface="Arial" panose="020B0604020202020204" pitchFamily="34" charset="0"/>
              </a:rPr>
              <a:t>HTML</a:t>
            </a:r>
            <a:r>
              <a:rPr kumimoji="1" lang="ja-JP" altLang="en-US" sz="2000">
                <a:solidFill>
                  <a:srgbClr val="333333"/>
                </a:solidFill>
                <a:latin typeface="Arial" panose="020B0604020202020204" pitchFamily="34" charset="0"/>
              </a:rPr>
              <a:t>・</a:t>
            </a:r>
            <a:r>
              <a:rPr kumimoji="1" lang="en-US" altLang="ja-JP" sz="2000">
                <a:solidFill>
                  <a:srgbClr val="333333"/>
                </a:solidFill>
                <a:latin typeface="Arial" panose="020B0604020202020204" pitchFamily="34" charset="0"/>
              </a:rPr>
              <a:t>CSS
</a:t>
            </a:r>
            <a:r>
              <a:rPr kumimoji="1" lang="ja-JP" altLang="en-US" sz="2000">
                <a:solidFill>
                  <a:srgbClr val="333333"/>
                </a:solidFill>
                <a:latin typeface="Arial" panose="020B0604020202020204" pitchFamily="34" charset="0"/>
              </a:rPr>
              <a:t>役割を分け、保守しやすい構成を目指しています。</a:t>
            </a:r>
          </a:p>
        </p:txBody>
      </p:sp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C828BC47-0EBA-8E25-0265-FC3BE8E4DCD6}"/>
              </a:ext>
            </a:extLst>
          </p:cNvPr>
          <p:cNvSpPr txBox="1"/>
          <p:nvPr/>
        </p:nvSpPr>
        <p:spPr>
          <a:xfrm>
            <a:off x="11112500" y="6223000"/>
            <a:ext cx="571500" cy="24622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en-US" altLang="ja-JP" sz="1000">
                <a:solidFill>
                  <a:srgbClr val="666666"/>
                </a:solidFill>
                <a:latin typeface="Arial" panose="020B0604020202020204" pitchFamily="34" charset="0"/>
              </a:rPr>
              <a:t>03</a:t>
            </a:r>
            <a:endParaRPr kumimoji="1" lang="ja-JP" altLang="en-US" sz="1000">
              <a:solidFill>
                <a:srgbClr val="666666"/>
              </a:solidFill>
              <a:latin typeface="Arial" panose="020B0604020202020204" pitchFamily="34" charset="0"/>
            </a:endParaRPr>
          </a:p>
        </p:txBody>
      </p:sp>
      <p:pic>
        <p:nvPicPr>
          <p:cNvPr id="6" name="slide-03">
            <a:hlinkClick r:id="" action="ppaction://media"/>
            <a:extLst>
              <a:ext uri="{FF2B5EF4-FFF2-40B4-BE49-F238E27FC236}">
                <a16:creationId xmlns:a16="http://schemas.microsoft.com/office/drawing/2014/main" id="{0091F203-B589-BA04-B896-E1EEBC9297F1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5892800" y="3225800"/>
            <a:ext cx="12700" cy="12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80125296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11000"/>
    </mc:Choice>
    <mc:Fallback>
      <p:transition spd="slow" advTm="11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0215" fill="hold"/>
                                        <p:tgtEl>
                                          <p:spTgt spid="6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6"/>
                </p:tgtEl>
              </p:cMediaNode>
            </p:audio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テキスト ボックス 1">
            <a:extLst>
              <a:ext uri="{FF2B5EF4-FFF2-40B4-BE49-F238E27FC236}">
                <a16:creationId xmlns:a16="http://schemas.microsoft.com/office/drawing/2014/main" id="{32A5F5D1-6E62-E405-F9B0-76180EF8755D}"/>
              </a:ext>
            </a:extLst>
          </p:cNvPr>
          <p:cNvSpPr txBox="1"/>
          <p:nvPr/>
        </p:nvSpPr>
        <p:spPr>
          <a:xfrm>
            <a:off x="533400" y="406400"/>
            <a:ext cx="10795000" cy="33855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en-US" altLang="ja-JP" sz="1600" b="1">
                <a:solidFill>
                  <a:srgbClr val="556F35"/>
                </a:solidFill>
                <a:latin typeface="Arial" panose="020B0604020202020204" pitchFamily="34" charset="0"/>
              </a:rPr>
              <a:t>TSUMIAGE LOG / TECH VIDEO</a:t>
            </a:r>
            <a:endParaRPr kumimoji="1" lang="ja-JP" altLang="en-US" sz="1600" b="1">
              <a:solidFill>
                <a:srgbClr val="556F35"/>
              </a:solidFill>
              <a:latin typeface="Arial" panose="020B0604020202020204" pitchFamily="34" charset="0"/>
            </a:endParaRPr>
          </a:p>
        </p:txBody>
      </p:sp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A82B6A8D-1BCD-16C0-95A1-5900A85C7EA4}"/>
              </a:ext>
            </a:extLst>
          </p:cNvPr>
          <p:cNvSpPr txBox="1"/>
          <p:nvPr/>
        </p:nvSpPr>
        <p:spPr>
          <a:xfrm>
            <a:off x="533400" y="1651000"/>
            <a:ext cx="10795000" cy="615553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ja-JP" altLang="en-US" sz="3400" b="1">
                <a:solidFill>
                  <a:srgbClr val="111111"/>
                </a:solidFill>
                <a:latin typeface="Arial" panose="020B0604020202020204" pitchFamily="34" charset="0"/>
              </a:rPr>
              <a:t>リポジトリの読みどころ</a:t>
            </a:r>
          </a:p>
        </p:txBody>
      </p:sp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EAC1CAB1-CF29-97E1-DC9F-0DEE757C1DF8}"/>
              </a:ext>
            </a:extLst>
          </p:cNvPr>
          <p:cNvSpPr txBox="1"/>
          <p:nvPr/>
        </p:nvSpPr>
        <p:spPr>
          <a:xfrm>
            <a:off x="533400" y="3429000"/>
            <a:ext cx="10795000" cy="707886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ja-JP" altLang="en-US" sz="2000">
                <a:solidFill>
                  <a:srgbClr val="333333"/>
                </a:solidFill>
                <a:latin typeface="Arial" panose="020B0604020202020204" pitchFamily="34" charset="0"/>
              </a:rPr>
              <a:t>公開コード、</a:t>
            </a:r>
            <a:r>
              <a:rPr kumimoji="1" lang="en-US" altLang="ja-JP" sz="2000">
                <a:solidFill>
                  <a:srgbClr val="333333"/>
                </a:solidFill>
                <a:latin typeface="Arial" panose="020B0604020202020204" pitchFamily="34" charset="0"/>
              </a:rPr>
              <a:t>README</a:t>
            </a:r>
            <a:r>
              <a:rPr kumimoji="1" lang="ja-JP" altLang="en-US" sz="2000">
                <a:solidFill>
                  <a:srgbClr val="333333"/>
                </a:solidFill>
                <a:latin typeface="Arial" panose="020B0604020202020204" pitchFamily="34" charset="0"/>
              </a:rPr>
              <a:t>、コミット履歴から設計判断を確認できます。
主なファイル：</a:t>
            </a:r>
            <a:r>
              <a:rPr kumimoji="1" lang="en-US" altLang="ja-JP" sz="2000">
                <a:solidFill>
                  <a:srgbClr val="333333"/>
                </a:solidFill>
                <a:latin typeface="Arial" panose="020B0604020202020204" pitchFamily="34" charset="0"/>
              </a:rPr>
              <a:t>README.md</a:t>
            </a:r>
            <a:r>
              <a:rPr kumimoji="1" lang="ja-JP" altLang="en-US" sz="2000">
                <a:solidFill>
                  <a:srgbClr val="333333"/>
                </a:solidFill>
                <a:latin typeface="Arial" panose="020B0604020202020204" pitchFamily="34" charset="0"/>
              </a:rPr>
              <a:t>、</a:t>
            </a:r>
            <a:r>
              <a:rPr kumimoji="1" lang="en-US" altLang="ja-JP" sz="2000">
                <a:solidFill>
                  <a:srgbClr val="333333"/>
                </a:solidFill>
                <a:latin typeface="Arial" panose="020B0604020202020204" pitchFamily="34" charset="0"/>
              </a:rPr>
              <a:t>index.html</a:t>
            </a:r>
            <a:r>
              <a:rPr kumimoji="1" lang="ja-JP" altLang="en-US" sz="2000">
                <a:solidFill>
                  <a:srgbClr val="333333"/>
                </a:solidFill>
                <a:latin typeface="Arial" panose="020B0604020202020204" pitchFamily="34" charset="0"/>
              </a:rPr>
              <a:t>、</a:t>
            </a:r>
            <a:r>
              <a:rPr kumimoji="1" lang="en-US" altLang="ja-JP" sz="2000">
                <a:solidFill>
                  <a:srgbClr val="333333"/>
                </a:solidFill>
                <a:latin typeface="Arial" panose="020B0604020202020204" pitchFamily="34" charset="0"/>
              </a:rPr>
              <a:t>package-lock.json</a:t>
            </a:r>
            <a:endParaRPr kumimoji="1" lang="ja-JP" altLang="en-US" sz="2000">
              <a:solidFill>
                <a:srgbClr val="333333"/>
              </a:solidFill>
              <a:latin typeface="Arial" panose="020B0604020202020204" pitchFamily="34" charset="0"/>
            </a:endParaRPr>
          </a:p>
        </p:txBody>
      </p:sp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CB094FA0-1FCC-1D97-8768-A58B9CAC27C3}"/>
              </a:ext>
            </a:extLst>
          </p:cNvPr>
          <p:cNvSpPr txBox="1"/>
          <p:nvPr/>
        </p:nvSpPr>
        <p:spPr>
          <a:xfrm>
            <a:off x="11112500" y="6223000"/>
            <a:ext cx="571500" cy="24622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en-US" altLang="ja-JP" sz="1000">
                <a:solidFill>
                  <a:srgbClr val="666666"/>
                </a:solidFill>
                <a:latin typeface="Arial" panose="020B0604020202020204" pitchFamily="34" charset="0"/>
              </a:rPr>
              <a:t>04</a:t>
            </a:r>
            <a:endParaRPr kumimoji="1" lang="ja-JP" altLang="en-US" sz="1000">
              <a:solidFill>
                <a:srgbClr val="666666"/>
              </a:solidFill>
              <a:latin typeface="Arial" panose="020B0604020202020204" pitchFamily="34" charset="0"/>
            </a:endParaRPr>
          </a:p>
        </p:txBody>
      </p:sp>
      <p:pic>
        <p:nvPicPr>
          <p:cNvPr id="6" name="slide-04">
            <a:hlinkClick r:id="" action="ppaction://media"/>
            <a:extLst>
              <a:ext uri="{FF2B5EF4-FFF2-40B4-BE49-F238E27FC236}">
                <a16:creationId xmlns:a16="http://schemas.microsoft.com/office/drawing/2014/main" id="{C3060849-30D8-D9D0-6950-330338C0AA31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5892800" y="3225800"/>
            <a:ext cx="12700" cy="12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30376711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10000"/>
    </mc:Choice>
    <mc:Fallback>
      <p:transition spd="slow" advTm="10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9670" fill="hold"/>
                                        <p:tgtEl>
                                          <p:spTgt spid="6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6"/>
                </p:tgtEl>
              </p:cMediaNode>
            </p:audio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テキスト ボックス 1">
            <a:extLst>
              <a:ext uri="{FF2B5EF4-FFF2-40B4-BE49-F238E27FC236}">
                <a16:creationId xmlns:a16="http://schemas.microsoft.com/office/drawing/2014/main" id="{97A82824-F372-29E6-17DA-D8DA42B7C3F6}"/>
              </a:ext>
            </a:extLst>
          </p:cNvPr>
          <p:cNvSpPr txBox="1"/>
          <p:nvPr/>
        </p:nvSpPr>
        <p:spPr>
          <a:xfrm>
            <a:off x="533400" y="406400"/>
            <a:ext cx="10795000" cy="33855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en-US" altLang="ja-JP" sz="1600" b="1">
                <a:solidFill>
                  <a:srgbClr val="556F35"/>
                </a:solidFill>
                <a:latin typeface="Arial" panose="020B0604020202020204" pitchFamily="34" charset="0"/>
              </a:rPr>
              <a:t>TSUMIAGE LOG / TECH VIDEO</a:t>
            </a:r>
            <a:endParaRPr kumimoji="1" lang="ja-JP" altLang="en-US" sz="1600" b="1">
              <a:solidFill>
                <a:srgbClr val="556F35"/>
              </a:solidFill>
              <a:latin typeface="Arial" panose="020B0604020202020204" pitchFamily="34" charset="0"/>
            </a:endParaRPr>
          </a:p>
        </p:txBody>
      </p:sp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88467539-1668-C9A4-9C70-C071E3315ED9}"/>
              </a:ext>
            </a:extLst>
          </p:cNvPr>
          <p:cNvSpPr txBox="1"/>
          <p:nvPr/>
        </p:nvSpPr>
        <p:spPr>
          <a:xfrm>
            <a:off x="533400" y="1651000"/>
            <a:ext cx="10795000" cy="615553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ja-JP" altLang="en-US" sz="3400" b="1">
                <a:solidFill>
                  <a:srgbClr val="111111"/>
                </a:solidFill>
                <a:latin typeface="Arial" panose="020B0604020202020204" pitchFamily="34" charset="0"/>
              </a:rPr>
              <a:t>コミットから分かる改善</a:t>
            </a:r>
          </a:p>
        </p:txBody>
      </p:sp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797A4661-ABF5-E2A2-8E67-A95FC0E8D2EF}"/>
              </a:ext>
            </a:extLst>
          </p:cNvPr>
          <p:cNvSpPr txBox="1"/>
          <p:nvPr/>
        </p:nvSpPr>
        <p:spPr>
          <a:xfrm>
            <a:off x="533400" y="3429000"/>
            <a:ext cx="10795000" cy="40011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ja-JP" altLang="en-US" sz="2000">
                <a:solidFill>
                  <a:srgbClr val="333333"/>
                </a:solidFill>
                <a:latin typeface="Arial" panose="020B0604020202020204" pitchFamily="34" charset="0"/>
              </a:rPr>
              <a:t>直近のコミットでは、実装の見直しと継続的な改善が行われました。</a:t>
            </a:r>
          </a:p>
        </p:txBody>
      </p:sp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02D8B80A-41F3-2CAE-1022-22828CA462D7}"/>
              </a:ext>
            </a:extLst>
          </p:cNvPr>
          <p:cNvSpPr txBox="1"/>
          <p:nvPr/>
        </p:nvSpPr>
        <p:spPr>
          <a:xfrm>
            <a:off x="11112500" y="6223000"/>
            <a:ext cx="571500" cy="24622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en-US" altLang="ja-JP" sz="1000">
                <a:solidFill>
                  <a:srgbClr val="666666"/>
                </a:solidFill>
                <a:latin typeface="Arial" panose="020B0604020202020204" pitchFamily="34" charset="0"/>
              </a:rPr>
              <a:t>05</a:t>
            </a:r>
            <a:endParaRPr kumimoji="1" lang="ja-JP" altLang="en-US" sz="1000">
              <a:solidFill>
                <a:srgbClr val="666666"/>
              </a:solidFill>
              <a:latin typeface="Arial" panose="020B0604020202020204" pitchFamily="34" charset="0"/>
            </a:endParaRPr>
          </a:p>
        </p:txBody>
      </p:sp>
      <p:pic>
        <p:nvPicPr>
          <p:cNvPr id="6" name="slide-05">
            <a:hlinkClick r:id="" action="ppaction://media"/>
            <a:extLst>
              <a:ext uri="{FF2B5EF4-FFF2-40B4-BE49-F238E27FC236}">
                <a16:creationId xmlns:a16="http://schemas.microsoft.com/office/drawing/2014/main" id="{21DDD580-25B5-8A22-BADA-6E9146B1300B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5892800" y="3225800"/>
            <a:ext cx="12700" cy="12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49054733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7000"/>
    </mc:Choice>
    <mc:Fallback>
      <p:transition spd="slow" advTm="7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6076" fill="hold"/>
                                        <p:tgtEl>
                                          <p:spTgt spid="6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6"/>
                </p:tgtEl>
              </p:cMediaNode>
            </p:audio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テキスト ボックス 1">
            <a:extLst>
              <a:ext uri="{FF2B5EF4-FFF2-40B4-BE49-F238E27FC236}">
                <a16:creationId xmlns:a16="http://schemas.microsoft.com/office/drawing/2014/main" id="{6F243A2C-3716-EFB6-6361-506F02E6D564}"/>
              </a:ext>
            </a:extLst>
          </p:cNvPr>
          <p:cNvSpPr txBox="1"/>
          <p:nvPr/>
        </p:nvSpPr>
        <p:spPr>
          <a:xfrm>
            <a:off x="533400" y="406400"/>
            <a:ext cx="10795000" cy="33855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en-US" altLang="ja-JP" sz="1600" b="1">
                <a:solidFill>
                  <a:srgbClr val="556F35"/>
                </a:solidFill>
                <a:latin typeface="Arial" panose="020B0604020202020204" pitchFamily="34" charset="0"/>
              </a:rPr>
              <a:t>TSUMIAGE LOG / TECH VIDEO</a:t>
            </a:r>
            <a:endParaRPr kumimoji="1" lang="ja-JP" altLang="en-US" sz="1600" b="1">
              <a:solidFill>
                <a:srgbClr val="556F35"/>
              </a:solidFill>
              <a:latin typeface="Arial" panose="020B0604020202020204" pitchFamily="34" charset="0"/>
            </a:endParaRPr>
          </a:p>
        </p:txBody>
      </p:sp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CA2BEDCD-D950-2A1D-9D5F-A7C3E3D67719}"/>
              </a:ext>
            </a:extLst>
          </p:cNvPr>
          <p:cNvSpPr txBox="1"/>
          <p:nvPr/>
        </p:nvSpPr>
        <p:spPr>
          <a:xfrm>
            <a:off x="533400" y="1651000"/>
            <a:ext cx="10795000" cy="615553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ja-JP" altLang="en-US" sz="3400" b="1">
                <a:solidFill>
                  <a:srgbClr val="111111"/>
                </a:solidFill>
                <a:latin typeface="Arial" panose="020B0604020202020204" pitchFamily="34" charset="0"/>
              </a:rPr>
              <a:t>詳しくは積み上げログへ</a:t>
            </a:r>
          </a:p>
        </p:txBody>
      </p:sp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38DB7255-92F1-7592-B829-E6B6D89A9774}"/>
              </a:ext>
            </a:extLst>
          </p:cNvPr>
          <p:cNvSpPr txBox="1"/>
          <p:nvPr/>
        </p:nvSpPr>
        <p:spPr>
          <a:xfrm>
            <a:off x="533400" y="3429000"/>
            <a:ext cx="10795000" cy="1015663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zh-TW" altLang="en-US" sz="2000">
                <a:solidFill>
                  <a:srgbClr val="333333"/>
                </a:solidFill>
                <a:latin typeface="Arial" panose="020B0604020202020204" pitchFamily="34" charset="0"/>
              </a:rPr>
              <a:t>記事： </a:t>
            </a:r>
            <a:r>
              <a:rPr kumimoji="1" lang="en-US" altLang="zh-TW" sz="2000">
                <a:solidFill>
                  <a:srgbClr val="333333"/>
                </a:solidFill>
                <a:latin typeface="Arial" panose="020B0604020202020204" pitchFamily="34" charset="0"/>
              </a:rPr>
              <a:t>https://syunnjack.dev/articles/netcafe-seat-watch
</a:t>
            </a:r>
            <a:r>
              <a:rPr kumimoji="1" lang="zh-TW" altLang="en-US" sz="2000">
                <a:solidFill>
                  <a:srgbClr val="333333"/>
                </a:solidFill>
                <a:latin typeface="Arial" panose="020B0604020202020204" pitchFamily="34" charset="0"/>
              </a:rPr>
              <a:t>学び、作り、振り返る開発記録。</a:t>
            </a:r>
            <a:endParaRPr kumimoji="1" lang="ja-JP" altLang="en-US" sz="2000">
              <a:solidFill>
                <a:srgbClr val="333333"/>
              </a:solidFill>
              <a:latin typeface="Arial" panose="020B0604020202020204" pitchFamily="34" charset="0"/>
            </a:endParaRPr>
          </a:p>
        </p:txBody>
      </p:sp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7EB27FA2-17BF-96AF-5F54-A2BEE0FE7157}"/>
              </a:ext>
            </a:extLst>
          </p:cNvPr>
          <p:cNvSpPr txBox="1"/>
          <p:nvPr/>
        </p:nvSpPr>
        <p:spPr>
          <a:xfrm>
            <a:off x="11112500" y="6223000"/>
            <a:ext cx="571500" cy="24622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en-US" altLang="ja-JP" sz="1000">
                <a:solidFill>
                  <a:srgbClr val="666666"/>
                </a:solidFill>
                <a:latin typeface="Arial" panose="020B0604020202020204" pitchFamily="34" charset="0"/>
              </a:rPr>
              <a:t>06</a:t>
            </a:r>
            <a:endParaRPr kumimoji="1" lang="ja-JP" altLang="en-US" sz="1000">
              <a:solidFill>
                <a:srgbClr val="666666"/>
              </a:solidFill>
              <a:latin typeface="Arial" panose="020B0604020202020204" pitchFamily="34" charset="0"/>
            </a:endParaRPr>
          </a:p>
        </p:txBody>
      </p:sp>
      <p:pic>
        <p:nvPicPr>
          <p:cNvPr id="6" name="slide-06">
            <a:hlinkClick r:id="" action="ppaction://media"/>
            <a:extLst>
              <a:ext uri="{FF2B5EF4-FFF2-40B4-BE49-F238E27FC236}">
                <a16:creationId xmlns:a16="http://schemas.microsoft.com/office/drawing/2014/main" id="{E18E0184-5FC4-4350-120B-B3C3288C708C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5892800" y="3225800"/>
            <a:ext cx="12700" cy="12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81588414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7000"/>
    </mc:Choice>
    <mc:Fallback>
      <p:transition spd="slow" advTm="7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6426" fill="hold"/>
                                        <p:tgtEl>
                                          <p:spTgt spid="6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6"/>
                </p:tgtEl>
              </p:cMediaNode>
            </p:audio>
          </p:childTnLst>
        </p:cTn>
      </p:par>
    </p:tnLst>
  </p:timing>
</p:sld>
</file>

<file path=ppt/theme/theme1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游ゴシック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187</Words>
  <Application>Microsoft Office PowerPoint</Application>
  <PresentationFormat>ユーザー設定</PresentationFormat>
  <Paragraphs>24</Paragraphs>
  <Slides>6</Slides>
  <Notes>0</Notes>
  <HiddenSlides>0</HiddenSlides>
  <MMClips>6</MMClips>
  <ScaleCrop>false</ScaleCrop>
  <HeadingPairs>
    <vt:vector size="6" baseType="variant">
      <vt:variant>
        <vt:lpstr>使用されているフォント</vt:lpstr>
      </vt:variant>
      <vt:variant>
        <vt:i4>3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6</vt:i4>
      </vt:variant>
    </vt:vector>
  </HeadingPairs>
  <TitlesOfParts>
    <vt:vector size="10" baseType="lpstr">
      <vt:lpstr>游ゴシック</vt:lpstr>
      <vt:lpstr>游ゴシック Light</vt:lpstr>
      <vt:lpstr>Arial</vt:lpstr>
      <vt:lpstr>Office テーマ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啓介 加藤</dc:creator>
  <cp:lastModifiedBy>啓介 加藤</cp:lastModifiedBy>
  <cp:revision>1</cp:revision>
  <dcterms:created xsi:type="dcterms:W3CDTF">2026-07-30T11:36:45Z</dcterms:created>
  <dcterms:modified xsi:type="dcterms:W3CDTF">2026-07-30T11:36:46Z</dcterms:modified>
</cp:coreProperties>
</file>