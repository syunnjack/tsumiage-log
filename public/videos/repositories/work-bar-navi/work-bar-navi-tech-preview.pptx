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av" ContentType="audio/x-wav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sldSz cx="12192000" cy="6858000"/>
  <p:notesSz cx="6858000" cy="9144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35" d="100"/>
          <a:sy n="35" d="100"/>
        </p:scale>
        <p:origin x="996" y="4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F86D984C-A1C0-4994-D207-47F3DA489FB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39BB5B55-9F48-88AA-F83A-EDEA3A5B0C1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ja-JP" altLang="en-US"/>
              <a:t>マスター サブタイトルの書式設定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5BBA9462-6EC5-D68A-D089-D833E6FE75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B46A33-0AEF-471E-8391-11537EAA13C1}" type="datetimeFigureOut">
              <a:rPr kumimoji="1" lang="ja-JP" altLang="en-US" smtClean="0"/>
              <a:t>2026/7/30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E467379F-704D-8255-2665-7B2C33959D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BADD118E-1568-31E3-37DF-B544190B90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58680A-FB25-4801-BC9E-B38DD995FA8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79738052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B0F49B25-9B45-0FD9-CC01-F6E3D916B0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CEAAA885-CCEB-B5DB-8949-CE100B71E60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8155DE4E-901D-BC31-8022-688E959638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B46A33-0AEF-471E-8391-11537EAA13C1}" type="datetimeFigureOut">
              <a:rPr kumimoji="1" lang="ja-JP" altLang="en-US" smtClean="0"/>
              <a:t>2026/7/30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DD18C856-822A-7515-7950-68D2B9E09A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DC25CBA9-3B8C-C9DD-1647-627D87E60D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58680A-FB25-4801-BC9E-B38DD995FA8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99778009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43577A39-2143-D393-D8AC-A763A7036C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9DAE77E5-EFE9-4C7F-08ED-B663A6902CE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806C8646-7F40-A625-4283-592D8C7F1E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B46A33-0AEF-471E-8391-11537EAA13C1}" type="datetimeFigureOut">
              <a:rPr kumimoji="1" lang="ja-JP" altLang="en-US" smtClean="0"/>
              <a:t>2026/7/30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212A4823-395B-6668-6081-F70D0F466F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3099451F-99BC-19F0-EB49-7BA75E5B7F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58680A-FB25-4801-BC9E-B38DD995FA8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29250389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06704BC6-A984-8906-9FC1-9FFF2758D1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27A5CDC6-E342-FDA8-2517-DFAAE0A8F5F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4EA4812C-B012-4549-87FB-DA25D0B30B2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96B07BD0-FE2B-6E5F-8B5E-D05DAA7B57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B46A33-0AEF-471E-8391-11537EAA13C1}" type="datetimeFigureOut">
              <a:rPr kumimoji="1" lang="ja-JP" altLang="en-US" smtClean="0"/>
              <a:t>2026/7/30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5D2824C8-8283-95F9-40A0-D5B14AD425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F85D5F2C-CE08-DAD7-2D50-9BFF11253B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58680A-FB25-4801-BC9E-B38DD995FA8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45564511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EA8ABBD2-EC96-553C-82A6-A86EEE0ABA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E8500CE1-3B57-E246-EB6F-289B91C12F3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E2B6D6E4-484C-FDCC-9143-7A47FA769EF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テキスト プレースホルダー 4">
            <a:extLst>
              <a:ext uri="{FF2B5EF4-FFF2-40B4-BE49-F238E27FC236}">
                <a16:creationId xmlns:a16="http://schemas.microsoft.com/office/drawing/2014/main" id="{6207835A-7F9A-1368-83FA-93C5E13F6E4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6" name="コンテンツ プレースホルダー 5">
            <a:extLst>
              <a:ext uri="{FF2B5EF4-FFF2-40B4-BE49-F238E27FC236}">
                <a16:creationId xmlns:a16="http://schemas.microsoft.com/office/drawing/2014/main" id="{47E9FEF7-99ED-1B24-00E8-CB6F10B8670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7" name="日付プレースホルダー 6">
            <a:extLst>
              <a:ext uri="{FF2B5EF4-FFF2-40B4-BE49-F238E27FC236}">
                <a16:creationId xmlns:a16="http://schemas.microsoft.com/office/drawing/2014/main" id="{EBE4AE37-F6F7-0DC7-1CD0-AC1DF6900A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B46A33-0AEF-471E-8391-11537EAA13C1}" type="datetimeFigureOut">
              <a:rPr kumimoji="1" lang="ja-JP" altLang="en-US" smtClean="0"/>
              <a:t>2026/7/30</a:t>
            </a:fld>
            <a:endParaRPr kumimoji="1" lang="ja-JP" altLang="en-US"/>
          </a:p>
        </p:txBody>
      </p:sp>
      <p:sp>
        <p:nvSpPr>
          <p:cNvPr id="8" name="フッター プレースホルダー 7">
            <a:extLst>
              <a:ext uri="{FF2B5EF4-FFF2-40B4-BE49-F238E27FC236}">
                <a16:creationId xmlns:a16="http://schemas.microsoft.com/office/drawing/2014/main" id="{4DB7E60A-4DF8-B91F-F162-612C5E7610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スライド番号プレースホルダー 8">
            <a:extLst>
              <a:ext uri="{FF2B5EF4-FFF2-40B4-BE49-F238E27FC236}">
                <a16:creationId xmlns:a16="http://schemas.microsoft.com/office/drawing/2014/main" id="{2EBF9726-92D4-8696-03C6-408CE25EEC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58680A-FB25-4801-BC9E-B38DD995FA8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77130125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C0E65553-457D-693A-6B62-4463CAFC38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日付プレースホルダー 2">
            <a:extLst>
              <a:ext uri="{FF2B5EF4-FFF2-40B4-BE49-F238E27FC236}">
                <a16:creationId xmlns:a16="http://schemas.microsoft.com/office/drawing/2014/main" id="{CDEF19B2-170D-671D-8281-119C22E30B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B46A33-0AEF-471E-8391-11537EAA13C1}" type="datetimeFigureOut">
              <a:rPr kumimoji="1" lang="ja-JP" altLang="en-US" smtClean="0"/>
              <a:t>2026/7/30</a:t>
            </a:fld>
            <a:endParaRPr kumimoji="1" lang="ja-JP" altLang="en-US"/>
          </a:p>
        </p:txBody>
      </p:sp>
      <p:sp>
        <p:nvSpPr>
          <p:cNvPr id="4" name="フッター プレースホルダー 3">
            <a:extLst>
              <a:ext uri="{FF2B5EF4-FFF2-40B4-BE49-F238E27FC236}">
                <a16:creationId xmlns:a16="http://schemas.microsoft.com/office/drawing/2014/main" id="{461E92C6-6CDF-5366-FB01-B28E5446C1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118E434D-5BE4-0B14-B612-175F6A169D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58680A-FB25-4801-BC9E-B38DD995FA8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29286969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ー 1">
            <a:extLst>
              <a:ext uri="{FF2B5EF4-FFF2-40B4-BE49-F238E27FC236}">
                <a16:creationId xmlns:a16="http://schemas.microsoft.com/office/drawing/2014/main" id="{B0836F12-3779-1625-4FA2-CD47A817BB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B46A33-0AEF-471E-8391-11537EAA13C1}" type="datetimeFigureOut">
              <a:rPr kumimoji="1" lang="ja-JP" altLang="en-US" smtClean="0"/>
              <a:t>2026/7/30</a:t>
            </a:fld>
            <a:endParaRPr kumimoji="1" lang="ja-JP" altLang="en-US"/>
          </a:p>
        </p:txBody>
      </p:sp>
      <p:sp>
        <p:nvSpPr>
          <p:cNvPr id="3" name="フッター プレースホルダー 2">
            <a:extLst>
              <a:ext uri="{FF2B5EF4-FFF2-40B4-BE49-F238E27FC236}">
                <a16:creationId xmlns:a16="http://schemas.microsoft.com/office/drawing/2014/main" id="{D19F3A5C-8AD6-63EC-F2C7-0AD51565C5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2A81EEBD-868F-4229-DF7F-BCD5A7B42A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58680A-FB25-4801-BC9E-B38DD995FA8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2214968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DFD14874-C238-A9BC-1356-25821286B6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5FD720B4-D4AC-9A7E-756B-06DA8B2061B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AC7C0003-3228-F291-B37A-82CE0988FF9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571C9F13-2B12-AD2E-4D01-EBFC038F92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B46A33-0AEF-471E-8391-11537EAA13C1}" type="datetimeFigureOut">
              <a:rPr kumimoji="1" lang="ja-JP" altLang="en-US" smtClean="0"/>
              <a:t>2026/7/30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137E5CEE-0F7C-CB22-1D45-E7EB5EF72C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28F53585-0A0C-61D3-2580-C92F0D5314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58680A-FB25-4801-BC9E-B38DD995FA8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17207349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37FC1D39-568F-24BA-13BE-459640382E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図プレースホルダー 2">
            <a:extLst>
              <a:ext uri="{FF2B5EF4-FFF2-40B4-BE49-F238E27FC236}">
                <a16:creationId xmlns:a16="http://schemas.microsoft.com/office/drawing/2014/main" id="{30A49353-E6F1-4A2F-382B-4AED9726202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ja-JP" altLang="en-US"/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5CD1501B-2D52-A2AD-A802-4C1981FC27F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34D872B7-5FE9-81D1-D5C6-2A96232880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B46A33-0AEF-471E-8391-11537EAA13C1}" type="datetimeFigureOut">
              <a:rPr kumimoji="1" lang="ja-JP" altLang="en-US" smtClean="0"/>
              <a:t>2026/7/30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0CAFFB95-EBCD-22A8-1B8F-7DB290A0AE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24E57F42-22DB-478C-6E7A-9D98ADBAC6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58680A-FB25-4801-BC9E-B38DD995FA8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18684469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29A460C9-1935-2386-AB82-AA80FFF65F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02CF2AFB-ABD4-1754-BB70-B5FBC0F970A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109A898C-C00A-75C9-3FAD-0CCFB5EA67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B46A33-0AEF-471E-8391-11537EAA13C1}" type="datetimeFigureOut">
              <a:rPr kumimoji="1" lang="ja-JP" altLang="en-US" smtClean="0"/>
              <a:t>2026/7/30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58A87F9C-9C33-3BD4-E209-9CDCDDAA71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CC035934-A37E-EC4F-1B86-CE39635930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58680A-FB25-4801-BC9E-B38DD995FA8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87919714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>
            <a:extLst>
              <a:ext uri="{FF2B5EF4-FFF2-40B4-BE49-F238E27FC236}">
                <a16:creationId xmlns:a16="http://schemas.microsoft.com/office/drawing/2014/main" id="{81BFA77F-753E-2D89-511F-8CF28AA71D2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CA7AC7EB-EE47-DFA9-1D0C-0C2F401D9EE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917F7315-F1CF-72ED-D5BD-C38C9A23A6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B46A33-0AEF-471E-8391-11537EAA13C1}" type="datetimeFigureOut">
              <a:rPr kumimoji="1" lang="ja-JP" altLang="en-US" smtClean="0"/>
              <a:t>2026/7/30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11FB6FD1-779E-DC75-8933-5C2DB5EA35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4FFB7337-D4AB-62A7-8E45-639A4A7E04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58680A-FB25-4801-BC9E-B38DD995FA8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22956790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ー 1">
            <a:extLst>
              <a:ext uri="{FF2B5EF4-FFF2-40B4-BE49-F238E27FC236}">
                <a16:creationId xmlns:a16="http://schemas.microsoft.com/office/drawing/2014/main" id="{F8427940-A3C2-01D7-4DC4-C74A62CE33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BDF8E08B-A174-3F75-37EC-A97D7E3FC9A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1709563F-94AA-F82C-7333-06A7AC941C4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EB46A33-0AEF-471E-8391-11537EAA13C1}" type="datetimeFigureOut">
              <a:rPr kumimoji="1" lang="ja-JP" altLang="en-US" smtClean="0"/>
              <a:t>2026/7/30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25650C0D-1856-A041-1DCF-9110472F42D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DB35ADE5-74BB-5DD8-8A97-C79DE219F57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258680A-FB25-4801-BC9E-B38DD995FA8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68275405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audio" Target="../media/media1.wav"/><Relationship Id="rId1" Type="http://schemas.microsoft.com/office/2007/relationships/media" Target="../media/media1.wav"/><Relationship Id="rId4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audio" Target="../media/media2.wav"/><Relationship Id="rId1" Type="http://schemas.microsoft.com/office/2007/relationships/media" Target="../media/media2.wav"/><Relationship Id="rId4" Type="http://schemas.openxmlformats.org/officeDocument/2006/relationships/image" Target="../media/image1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audio" Target="../media/media3.wav"/><Relationship Id="rId1" Type="http://schemas.microsoft.com/office/2007/relationships/media" Target="../media/media3.wav"/><Relationship Id="rId4" Type="http://schemas.openxmlformats.org/officeDocument/2006/relationships/image" Target="../media/image1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audio" Target="../media/media4.wav"/><Relationship Id="rId1" Type="http://schemas.microsoft.com/office/2007/relationships/media" Target="../media/media4.wav"/><Relationship Id="rId4" Type="http://schemas.openxmlformats.org/officeDocument/2006/relationships/image" Target="../media/image1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audio" Target="../media/media5.wav"/><Relationship Id="rId1" Type="http://schemas.microsoft.com/office/2007/relationships/media" Target="../media/media5.wav"/><Relationship Id="rId4" Type="http://schemas.openxmlformats.org/officeDocument/2006/relationships/image" Target="../media/image1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audio" Target="../media/media6.wav"/><Relationship Id="rId1" Type="http://schemas.microsoft.com/office/2007/relationships/media" Target="../media/media6.wav"/><Relationship Id="rId4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936F8975-8A63-6F8E-A445-11975C0B1FA6}"/>
              </a:ext>
            </a:extLst>
          </p:cNvPr>
          <p:cNvSpPr txBox="1"/>
          <p:nvPr/>
        </p:nvSpPr>
        <p:spPr>
          <a:xfrm>
            <a:off x="533400" y="406400"/>
            <a:ext cx="10795000" cy="33855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1600" b="1">
                <a:solidFill>
                  <a:srgbClr val="556F35"/>
                </a:solidFill>
                <a:latin typeface="Arial" panose="020B0604020202020204" pitchFamily="34" charset="0"/>
              </a:rPr>
              <a:t>TSUMIAGE LOG / TECH VIDEO</a:t>
            </a:r>
            <a:endParaRPr kumimoji="1" lang="ja-JP" altLang="en-US" sz="1600" b="1">
              <a:solidFill>
                <a:srgbClr val="556F35"/>
              </a:solidFill>
              <a:latin typeface="Arial" panose="020B0604020202020204" pitchFamily="34" charset="0"/>
            </a:endParaRPr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EAB11FDF-EA42-68C3-1D7D-9D323B10263D}"/>
              </a:ext>
            </a:extLst>
          </p:cNvPr>
          <p:cNvSpPr txBox="1"/>
          <p:nvPr/>
        </p:nvSpPr>
        <p:spPr>
          <a:xfrm>
            <a:off x="533400" y="1651000"/>
            <a:ext cx="10795000" cy="615553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3400" b="1">
                <a:solidFill>
                  <a:srgbClr val="111111"/>
                </a:solidFill>
                <a:latin typeface="Arial" panose="020B0604020202020204" pitchFamily="34" charset="0"/>
              </a:rPr>
              <a:t>Work Bar Navi</a:t>
            </a:r>
            <a:r>
              <a:rPr kumimoji="1" lang="ja-JP" altLang="en-US" sz="3400" b="1">
                <a:solidFill>
                  <a:srgbClr val="111111"/>
                </a:solidFill>
                <a:latin typeface="Arial" panose="020B0604020202020204" pitchFamily="34" charset="0"/>
              </a:rPr>
              <a:t>の技術解説</a:t>
            </a:r>
          </a:p>
        </p:txBody>
      </p: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8AC7F423-1EF1-B1EB-88B1-DFF866BDB259}"/>
              </a:ext>
            </a:extLst>
          </p:cNvPr>
          <p:cNvSpPr txBox="1"/>
          <p:nvPr/>
        </p:nvSpPr>
        <p:spPr>
          <a:xfrm>
            <a:off x="533400" y="3429000"/>
            <a:ext cx="10795000" cy="40011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ja-JP" altLang="en-US" sz="2000">
                <a:solidFill>
                  <a:srgbClr val="333333"/>
                </a:solidFill>
                <a:latin typeface="Arial" panose="020B0604020202020204" pitchFamily="34" charset="0"/>
              </a:rPr>
              <a:t>設計・実装・コミットから学ぶ短時間プレビュー</a:t>
            </a:r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8AB023BC-CCD7-B6F7-9292-A850AD1E7D99}"/>
              </a:ext>
            </a:extLst>
          </p:cNvPr>
          <p:cNvSpPr txBox="1"/>
          <p:nvPr/>
        </p:nvSpPr>
        <p:spPr>
          <a:xfrm>
            <a:off x="11112500" y="6223000"/>
            <a:ext cx="57150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1000">
                <a:solidFill>
                  <a:srgbClr val="666666"/>
                </a:solidFill>
                <a:latin typeface="Arial" panose="020B0604020202020204" pitchFamily="34" charset="0"/>
              </a:rPr>
              <a:t>01</a:t>
            </a:r>
            <a:endParaRPr kumimoji="1" lang="ja-JP" altLang="en-US" sz="1000">
              <a:solidFill>
                <a:srgbClr val="666666"/>
              </a:solidFill>
              <a:latin typeface="Arial" panose="020B0604020202020204" pitchFamily="34" charset="0"/>
            </a:endParaRPr>
          </a:p>
        </p:txBody>
      </p:sp>
      <p:pic>
        <p:nvPicPr>
          <p:cNvPr id="6" name="slide-01">
            <a:hlinkClick r:id="" action="ppaction://media"/>
            <a:extLst>
              <a:ext uri="{FF2B5EF4-FFF2-40B4-BE49-F238E27FC236}">
                <a16:creationId xmlns:a16="http://schemas.microsoft.com/office/drawing/2014/main" id="{290508E2-8087-76B0-E00A-2357974F31DA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5892800" y="3225800"/>
            <a:ext cx="12700" cy="12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7085023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6000"/>
    </mc:Choice>
    <mc:Fallback>
      <p:transition spd="slow" advTm="6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5192" fill="hold"/>
                                        <p:tgtEl>
                                          <p:spTgt spid="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6"/>
                </p:tgtEl>
              </p:cMediaNode>
            </p:audio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B3DB85D4-246B-6C8F-1527-60EBD45FD10A}"/>
              </a:ext>
            </a:extLst>
          </p:cNvPr>
          <p:cNvSpPr txBox="1"/>
          <p:nvPr/>
        </p:nvSpPr>
        <p:spPr>
          <a:xfrm>
            <a:off x="533400" y="406400"/>
            <a:ext cx="10795000" cy="33855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1600" b="1">
                <a:solidFill>
                  <a:srgbClr val="556F35"/>
                </a:solidFill>
                <a:latin typeface="Arial" panose="020B0604020202020204" pitchFamily="34" charset="0"/>
              </a:rPr>
              <a:t>TSUMIAGE LOG / TECH VIDEO</a:t>
            </a:r>
            <a:endParaRPr kumimoji="1" lang="ja-JP" altLang="en-US" sz="1600" b="1">
              <a:solidFill>
                <a:srgbClr val="556F35"/>
              </a:solidFill>
              <a:latin typeface="Arial" panose="020B0604020202020204" pitchFamily="34" charset="0"/>
            </a:endParaRPr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8BB92143-593F-EB4A-BF94-A0C60736F7EA}"/>
              </a:ext>
            </a:extLst>
          </p:cNvPr>
          <p:cNvSpPr txBox="1"/>
          <p:nvPr/>
        </p:nvSpPr>
        <p:spPr>
          <a:xfrm>
            <a:off x="533400" y="1651000"/>
            <a:ext cx="10795000" cy="615553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ja-JP" altLang="en-US" sz="3400" b="1">
                <a:solidFill>
                  <a:srgbClr val="111111"/>
                </a:solidFill>
                <a:latin typeface="Arial" panose="020B0604020202020204" pitchFamily="34" charset="0"/>
              </a:rPr>
              <a:t>このプロジェクトは何を解決する？</a:t>
            </a:r>
          </a:p>
        </p:txBody>
      </p: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7F917115-0FE3-5802-3EEF-B289A6159157}"/>
              </a:ext>
            </a:extLst>
          </p:cNvPr>
          <p:cNvSpPr txBox="1"/>
          <p:nvPr/>
        </p:nvSpPr>
        <p:spPr>
          <a:xfrm>
            <a:off x="533400" y="3429000"/>
            <a:ext cx="10795000" cy="40011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2000">
                <a:solidFill>
                  <a:srgbClr val="333333"/>
                </a:solidFill>
                <a:latin typeface="Arial" panose="020B0604020202020204" pitchFamily="34" charset="0"/>
              </a:rPr>
              <a:t>Work Bar Navi Recommended repository: work bar navi Confirmed domain: workbar</a:t>
            </a:r>
            <a:endParaRPr kumimoji="1" lang="ja-JP" altLang="en-US" sz="2000">
              <a:solidFill>
                <a:srgbClr val="333333"/>
              </a:solidFill>
              <a:latin typeface="Arial" panose="020B0604020202020204" pitchFamily="34" charset="0"/>
            </a:endParaRPr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7D0E6787-E1E4-BBF3-3FD9-539F09C8F7A1}"/>
              </a:ext>
            </a:extLst>
          </p:cNvPr>
          <p:cNvSpPr txBox="1"/>
          <p:nvPr/>
        </p:nvSpPr>
        <p:spPr>
          <a:xfrm>
            <a:off x="11112500" y="6223000"/>
            <a:ext cx="57150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1000">
                <a:solidFill>
                  <a:srgbClr val="666666"/>
                </a:solidFill>
                <a:latin typeface="Arial" panose="020B0604020202020204" pitchFamily="34" charset="0"/>
              </a:rPr>
              <a:t>02</a:t>
            </a:r>
            <a:endParaRPr kumimoji="1" lang="ja-JP" altLang="en-US" sz="1000">
              <a:solidFill>
                <a:srgbClr val="666666"/>
              </a:solidFill>
              <a:latin typeface="Arial" panose="020B0604020202020204" pitchFamily="34" charset="0"/>
            </a:endParaRPr>
          </a:p>
        </p:txBody>
      </p:sp>
      <p:pic>
        <p:nvPicPr>
          <p:cNvPr id="6" name="slide-02">
            <a:hlinkClick r:id="" action="ppaction://media"/>
            <a:extLst>
              <a:ext uri="{FF2B5EF4-FFF2-40B4-BE49-F238E27FC236}">
                <a16:creationId xmlns:a16="http://schemas.microsoft.com/office/drawing/2014/main" id="{5DBD8D83-0E44-FD89-4C0F-63B721F4BB63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5892800" y="3225800"/>
            <a:ext cx="12700" cy="12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3101183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7000"/>
    </mc:Choice>
    <mc:Fallback>
      <p:transition spd="slow" advTm="7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6522" fill="hold"/>
                                        <p:tgtEl>
                                          <p:spTgt spid="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6"/>
                </p:tgtEl>
              </p:cMediaNode>
            </p:audio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64E19002-E507-D73A-8C32-829ABE445390}"/>
              </a:ext>
            </a:extLst>
          </p:cNvPr>
          <p:cNvSpPr txBox="1"/>
          <p:nvPr/>
        </p:nvSpPr>
        <p:spPr>
          <a:xfrm>
            <a:off x="533400" y="406400"/>
            <a:ext cx="10795000" cy="33855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1600" b="1">
                <a:solidFill>
                  <a:srgbClr val="556F35"/>
                </a:solidFill>
                <a:latin typeface="Arial" panose="020B0604020202020204" pitchFamily="34" charset="0"/>
              </a:rPr>
              <a:t>TSUMIAGE LOG / TECH VIDEO</a:t>
            </a:r>
            <a:endParaRPr kumimoji="1" lang="ja-JP" altLang="en-US" sz="1600" b="1">
              <a:solidFill>
                <a:srgbClr val="556F35"/>
              </a:solidFill>
              <a:latin typeface="Arial" panose="020B0604020202020204" pitchFamily="34" charset="0"/>
            </a:endParaRPr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5D47C0AE-29A1-F6D8-F8BC-21CEA59DAB49}"/>
              </a:ext>
            </a:extLst>
          </p:cNvPr>
          <p:cNvSpPr txBox="1"/>
          <p:nvPr/>
        </p:nvSpPr>
        <p:spPr>
          <a:xfrm>
            <a:off x="533400" y="1651000"/>
            <a:ext cx="10795000" cy="615553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ja-JP" altLang="en-US" sz="3400" b="1">
                <a:solidFill>
                  <a:srgbClr val="111111"/>
                </a:solidFill>
                <a:latin typeface="Arial" panose="020B0604020202020204" pitchFamily="34" charset="0"/>
              </a:rPr>
              <a:t>技術スタック</a:t>
            </a:r>
          </a:p>
        </p:txBody>
      </p: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4E88982F-3B01-5D2C-3E53-807FD57C1F78}"/>
              </a:ext>
            </a:extLst>
          </p:cNvPr>
          <p:cNvSpPr txBox="1"/>
          <p:nvPr/>
        </p:nvSpPr>
        <p:spPr>
          <a:xfrm>
            <a:off x="533400" y="3429000"/>
            <a:ext cx="10795000" cy="707886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ja-JP" altLang="en-US" sz="2000">
                <a:solidFill>
                  <a:srgbClr val="333333"/>
                </a:solidFill>
                <a:latin typeface="Arial" panose="020B0604020202020204" pitchFamily="34" charset="0"/>
              </a:rPr>
              <a:t>主要技術：</a:t>
            </a:r>
            <a:r>
              <a:rPr kumimoji="1" lang="en-US" altLang="ja-JP" sz="2000">
                <a:solidFill>
                  <a:srgbClr val="333333"/>
                </a:solidFill>
                <a:latin typeface="Arial" panose="020B0604020202020204" pitchFamily="34" charset="0"/>
              </a:rPr>
              <a:t>JavaScript</a:t>
            </a:r>
            <a:r>
              <a:rPr kumimoji="1" lang="ja-JP" altLang="en-US" sz="2000">
                <a:solidFill>
                  <a:srgbClr val="333333"/>
                </a:solidFill>
                <a:latin typeface="Arial" panose="020B0604020202020204" pitchFamily="34" charset="0"/>
              </a:rPr>
              <a:t>・</a:t>
            </a:r>
            <a:r>
              <a:rPr kumimoji="1" lang="en-US" altLang="ja-JP" sz="2000">
                <a:solidFill>
                  <a:srgbClr val="333333"/>
                </a:solidFill>
                <a:latin typeface="Arial" panose="020B0604020202020204" pitchFamily="34" charset="0"/>
              </a:rPr>
              <a:t>HTML</a:t>
            </a:r>
            <a:r>
              <a:rPr kumimoji="1" lang="ja-JP" altLang="en-US" sz="2000">
                <a:solidFill>
                  <a:srgbClr val="333333"/>
                </a:solidFill>
                <a:latin typeface="Arial" panose="020B0604020202020204" pitchFamily="34" charset="0"/>
              </a:rPr>
              <a:t>・</a:t>
            </a:r>
            <a:r>
              <a:rPr kumimoji="1" lang="en-US" altLang="ja-JP" sz="2000">
                <a:solidFill>
                  <a:srgbClr val="333333"/>
                </a:solidFill>
                <a:latin typeface="Arial" panose="020B0604020202020204" pitchFamily="34" charset="0"/>
              </a:rPr>
              <a:t>CSS
</a:t>
            </a:r>
            <a:r>
              <a:rPr kumimoji="1" lang="ja-JP" altLang="en-US" sz="2000">
                <a:solidFill>
                  <a:srgbClr val="333333"/>
                </a:solidFill>
                <a:latin typeface="Arial" panose="020B0604020202020204" pitchFamily="34" charset="0"/>
              </a:rPr>
              <a:t>役割を分け、保守しやすい構成を目指しています。</a:t>
            </a:r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F675B704-AEED-FA89-023F-ED71641F04D3}"/>
              </a:ext>
            </a:extLst>
          </p:cNvPr>
          <p:cNvSpPr txBox="1"/>
          <p:nvPr/>
        </p:nvSpPr>
        <p:spPr>
          <a:xfrm>
            <a:off x="11112500" y="6223000"/>
            <a:ext cx="57150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1000">
                <a:solidFill>
                  <a:srgbClr val="666666"/>
                </a:solidFill>
                <a:latin typeface="Arial" panose="020B0604020202020204" pitchFamily="34" charset="0"/>
              </a:rPr>
              <a:t>03</a:t>
            </a:r>
            <a:endParaRPr kumimoji="1" lang="ja-JP" altLang="en-US" sz="1000">
              <a:solidFill>
                <a:srgbClr val="666666"/>
              </a:solidFill>
              <a:latin typeface="Arial" panose="020B0604020202020204" pitchFamily="34" charset="0"/>
            </a:endParaRPr>
          </a:p>
        </p:txBody>
      </p:sp>
      <p:pic>
        <p:nvPicPr>
          <p:cNvPr id="6" name="slide-03">
            <a:hlinkClick r:id="" action="ppaction://media"/>
            <a:extLst>
              <a:ext uri="{FF2B5EF4-FFF2-40B4-BE49-F238E27FC236}">
                <a16:creationId xmlns:a16="http://schemas.microsoft.com/office/drawing/2014/main" id="{F93056C7-4CE9-3EC6-0455-44C6DD39C0F5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5892800" y="3225800"/>
            <a:ext cx="12700" cy="12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1154775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11000"/>
    </mc:Choice>
    <mc:Fallback>
      <p:transition spd="slow" advTm="11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0215" fill="hold"/>
                                        <p:tgtEl>
                                          <p:spTgt spid="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6"/>
                </p:tgtEl>
              </p:cMediaNode>
            </p:audio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49B54975-AE6E-5FE9-ACD8-C9C9FD67A5FE}"/>
              </a:ext>
            </a:extLst>
          </p:cNvPr>
          <p:cNvSpPr txBox="1"/>
          <p:nvPr/>
        </p:nvSpPr>
        <p:spPr>
          <a:xfrm>
            <a:off x="533400" y="406400"/>
            <a:ext cx="10795000" cy="33855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1600" b="1">
                <a:solidFill>
                  <a:srgbClr val="556F35"/>
                </a:solidFill>
                <a:latin typeface="Arial" panose="020B0604020202020204" pitchFamily="34" charset="0"/>
              </a:rPr>
              <a:t>TSUMIAGE LOG / TECH VIDEO</a:t>
            </a:r>
            <a:endParaRPr kumimoji="1" lang="ja-JP" altLang="en-US" sz="1600" b="1">
              <a:solidFill>
                <a:srgbClr val="556F35"/>
              </a:solidFill>
              <a:latin typeface="Arial" panose="020B0604020202020204" pitchFamily="34" charset="0"/>
            </a:endParaRPr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BA9F1628-9FC2-8233-3711-6CE855C9119E}"/>
              </a:ext>
            </a:extLst>
          </p:cNvPr>
          <p:cNvSpPr txBox="1"/>
          <p:nvPr/>
        </p:nvSpPr>
        <p:spPr>
          <a:xfrm>
            <a:off x="533400" y="1651000"/>
            <a:ext cx="10795000" cy="615553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ja-JP" altLang="en-US" sz="3400" b="1">
                <a:solidFill>
                  <a:srgbClr val="111111"/>
                </a:solidFill>
                <a:latin typeface="Arial" panose="020B0604020202020204" pitchFamily="34" charset="0"/>
              </a:rPr>
              <a:t>リポジトリの読みどころ</a:t>
            </a:r>
          </a:p>
        </p:txBody>
      </p: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06788E4D-4E98-DABE-781A-0161C6CA7946}"/>
              </a:ext>
            </a:extLst>
          </p:cNvPr>
          <p:cNvSpPr txBox="1"/>
          <p:nvPr/>
        </p:nvSpPr>
        <p:spPr>
          <a:xfrm>
            <a:off x="533400" y="3429000"/>
            <a:ext cx="10795000" cy="707886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ja-JP" altLang="en-US" sz="2000">
                <a:solidFill>
                  <a:srgbClr val="333333"/>
                </a:solidFill>
                <a:latin typeface="Arial" panose="020B0604020202020204" pitchFamily="34" charset="0"/>
              </a:rPr>
              <a:t>公開コード、</a:t>
            </a:r>
            <a:r>
              <a:rPr kumimoji="1" lang="en-US" altLang="ja-JP" sz="2000">
                <a:solidFill>
                  <a:srgbClr val="333333"/>
                </a:solidFill>
                <a:latin typeface="Arial" panose="020B0604020202020204" pitchFamily="34" charset="0"/>
              </a:rPr>
              <a:t>README</a:t>
            </a:r>
            <a:r>
              <a:rPr kumimoji="1" lang="ja-JP" altLang="en-US" sz="2000">
                <a:solidFill>
                  <a:srgbClr val="333333"/>
                </a:solidFill>
                <a:latin typeface="Arial" panose="020B0604020202020204" pitchFamily="34" charset="0"/>
              </a:rPr>
              <a:t>、コミット履歴から設計判断を確認できます。
主なファイル：</a:t>
            </a:r>
            <a:r>
              <a:rPr kumimoji="1" lang="en-US" altLang="ja-JP" sz="2000">
                <a:solidFill>
                  <a:srgbClr val="333333"/>
                </a:solidFill>
                <a:latin typeface="Arial" panose="020B0604020202020204" pitchFamily="34" charset="0"/>
              </a:rPr>
              <a:t>README.md</a:t>
            </a:r>
            <a:r>
              <a:rPr kumimoji="1" lang="ja-JP" altLang="en-US" sz="2000">
                <a:solidFill>
                  <a:srgbClr val="333333"/>
                </a:solidFill>
                <a:latin typeface="Arial" panose="020B0604020202020204" pitchFamily="34" charset="0"/>
              </a:rPr>
              <a:t>、</a:t>
            </a:r>
            <a:r>
              <a:rPr kumimoji="1" lang="en-US" altLang="ja-JP" sz="2000">
                <a:solidFill>
                  <a:srgbClr val="333333"/>
                </a:solidFill>
                <a:latin typeface="Arial" panose="020B0604020202020204" pitchFamily="34" charset="0"/>
              </a:rPr>
              <a:t>index.html</a:t>
            </a:r>
            <a:r>
              <a:rPr kumimoji="1" lang="ja-JP" altLang="en-US" sz="2000">
                <a:solidFill>
                  <a:srgbClr val="333333"/>
                </a:solidFill>
                <a:latin typeface="Arial" panose="020B0604020202020204" pitchFamily="34" charset="0"/>
              </a:rPr>
              <a:t>、</a:t>
            </a:r>
            <a:r>
              <a:rPr kumimoji="1" lang="en-US" altLang="ja-JP" sz="2000">
                <a:solidFill>
                  <a:srgbClr val="333333"/>
                </a:solidFill>
                <a:latin typeface="Arial" panose="020B0604020202020204" pitchFamily="34" charset="0"/>
              </a:rPr>
              <a:t>package-lock.json</a:t>
            </a:r>
            <a:endParaRPr kumimoji="1" lang="ja-JP" altLang="en-US" sz="2000">
              <a:solidFill>
                <a:srgbClr val="333333"/>
              </a:solidFill>
              <a:latin typeface="Arial" panose="020B0604020202020204" pitchFamily="34" charset="0"/>
            </a:endParaRPr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7DEA4968-AEA9-7CB0-1C1D-A6D8692F55C8}"/>
              </a:ext>
            </a:extLst>
          </p:cNvPr>
          <p:cNvSpPr txBox="1"/>
          <p:nvPr/>
        </p:nvSpPr>
        <p:spPr>
          <a:xfrm>
            <a:off x="11112500" y="6223000"/>
            <a:ext cx="57150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1000">
                <a:solidFill>
                  <a:srgbClr val="666666"/>
                </a:solidFill>
                <a:latin typeface="Arial" panose="020B0604020202020204" pitchFamily="34" charset="0"/>
              </a:rPr>
              <a:t>04</a:t>
            </a:r>
            <a:endParaRPr kumimoji="1" lang="ja-JP" altLang="en-US" sz="1000">
              <a:solidFill>
                <a:srgbClr val="666666"/>
              </a:solidFill>
              <a:latin typeface="Arial" panose="020B0604020202020204" pitchFamily="34" charset="0"/>
            </a:endParaRPr>
          </a:p>
        </p:txBody>
      </p:sp>
      <p:pic>
        <p:nvPicPr>
          <p:cNvPr id="6" name="slide-04">
            <a:hlinkClick r:id="" action="ppaction://media"/>
            <a:extLst>
              <a:ext uri="{FF2B5EF4-FFF2-40B4-BE49-F238E27FC236}">
                <a16:creationId xmlns:a16="http://schemas.microsoft.com/office/drawing/2014/main" id="{D173A2DF-74B5-C50D-6F89-88971F121CEC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5892800" y="3225800"/>
            <a:ext cx="12700" cy="12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7947006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10000"/>
    </mc:Choice>
    <mc:Fallback>
      <p:transition spd="slow" advTm="10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9670" fill="hold"/>
                                        <p:tgtEl>
                                          <p:spTgt spid="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6"/>
                </p:tgtEl>
              </p:cMediaNode>
            </p:audio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F79EBDFA-5D58-E358-F837-709A0ECCDBF9}"/>
              </a:ext>
            </a:extLst>
          </p:cNvPr>
          <p:cNvSpPr txBox="1"/>
          <p:nvPr/>
        </p:nvSpPr>
        <p:spPr>
          <a:xfrm>
            <a:off x="533400" y="406400"/>
            <a:ext cx="10795000" cy="33855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1600" b="1">
                <a:solidFill>
                  <a:srgbClr val="556F35"/>
                </a:solidFill>
                <a:latin typeface="Arial" panose="020B0604020202020204" pitchFamily="34" charset="0"/>
              </a:rPr>
              <a:t>TSUMIAGE LOG / TECH VIDEO</a:t>
            </a:r>
            <a:endParaRPr kumimoji="1" lang="ja-JP" altLang="en-US" sz="1600" b="1">
              <a:solidFill>
                <a:srgbClr val="556F35"/>
              </a:solidFill>
              <a:latin typeface="Arial" panose="020B0604020202020204" pitchFamily="34" charset="0"/>
            </a:endParaRPr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C58464E6-7FE8-3C07-CD18-43F9224473C4}"/>
              </a:ext>
            </a:extLst>
          </p:cNvPr>
          <p:cNvSpPr txBox="1"/>
          <p:nvPr/>
        </p:nvSpPr>
        <p:spPr>
          <a:xfrm>
            <a:off x="533400" y="1651000"/>
            <a:ext cx="10795000" cy="615553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ja-JP" altLang="en-US" sz="3400" b="1">
                <a:solidFill>
                  <a:srgbClr val="111111"/>
                </a:solidFill>
                <a:latin typeface="Arial" panose="020B0604020202020204" pitchFamily="34" charset="0"/>
              </a:rPr>
              <a:t>コミットから分かる改善</a:t>
            </a:r>
          </a:p>
        </p:txBody>
      </p: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15EDA04D-7000-2561-8004-825CC96E1445}"/>
              </a:ext>
            </a:extLst>
          </p:cNvPr>
          <p:cNvSpPr txBox="1"/>
          <p:nvPr/>
        </p:nvSpPr>
        <p:spPr>
          <a:xfrm>
            <a:off x="533400" y="3429000"/>
            <a:ext cx="10795000" cy="40011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2000">
                <a:solidFill>
                  <a:srgbClr val="333333"/>
                </a:solidFill>
                <a:latin typeface="Arial" panose="020B0604020202020204" pitchFamily="34" charset="0"/>
              </a:rPr>
              <a:t>Set confirmed custom domain</a:t>
            </a:r>
            <a:endParaRPr kumimoji="1" lang="ja-JP" altLang="en-US" sz="2000">
              <a:solidFill>
                <a:srgbClr val="333333"/>
              </a:solidFill>
              <a:latin typeface="Arial" panose="020B0604020202020204" pitchFamily="34" charset="0"/>
            </a:endParaRPr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6CA9E4C5-4337-F81D-4037-877CF169B8E9}"/>
              </a:ext>
            </a:extLst>
          </p:cNvPr>
          <p:cNvSpPr txBox="1"/>
          <p:nvPr/>
        </p:nvSpPr>
        <p:spPr>
          <a:xfrm>
            <a:off x="11112500" y="6223000"/>
            <a:ext cx="57150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1000">
                <a:solidFill>
                  <a:srgbClr val="666666"/>
                </a:solidFill>
                <a:latin typeface="Arial" panose="020B0604020202020204" pitchFamily="34" charset="0"/>
              </a:rPr>
              <a:t>05</a:t>
            </a:r>
            <a:endParaRPr kumimoji="1" lang="ja-JP" altLang="en-US" sz="1000">
              <a:solidFill>
                <a:srgbClr val="666666"/>
              </a:solidFill>
              <a:latin typeface="Arial" panose="020B0604020202020204" pitchFamily="34" charset="0"/>
            </a:endParaRPr>
          </a:p>
        </p:txBody>
      </p:sp>
      <p:pic>
        <p:nvPicPr>
          <p:cNvPr id="6" name="slide-05">
            <a:hlinkClick r:id="" action="ppaction://media"/>
            <a:extLst>
              <a:ext uri="{FF2B5EF4-FFF2-40B4-BE49-F238E27FC236}">
                <a16:creationId xmlns:a16="http://schemas.microsoft.com/office/drawing/2014/main" id="{03367F3F-9DC7-6C94-3D3F-A25AFFC61C5E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5892800" y="3225800"/>
            <a:ext cx="12700" cy="12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7578473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7000"/>
    </mc:Choice>
    <mc:Fallback>
      <p:transition spd="slow" advTm="7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6451" fill="hold"/>
                                        <p:tgtEl>
                                          <p:spTgt spid="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6"/>
                </p:tgtEl>
              </p:cMediaNode>
            </p:audio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61B99C81-B82E-785F-AF4B-5AB22ACD6123}"/>
              </a:ext>
            </a:extLst>
          </p:cNvPr>
          <p:cNvSpPr txBox="1"/>
          <p:nvPr/>
        </p:nvSpPr>
        <p:spPr>
          <a:xfrm>
            <a:off x="533400" y="406400"/>
            <a:ext cx="10795000" cy="33855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1600" b="1">
                <a:solidFill>
                  <a:srgbClr val="556F35"/>
                </a:solidFill>
                <a:latin typeface="Arial" panose="020B0604020202020204" pitchFamily="34" charset="0"/>
              </a:rPr>
              <a:t>TSUMIAGE LOG / TECH VIDEO</a:t>
            </a:r>
            <a:endParaRPr kumimoji="1" lang="ja-JP" altLang="en-US" sz="1600" b="1">
              <a:solidFill>
                <a:srgbClr val="556F35"/>
              </a:solidFill>
              <a:latin typeface="Arial" panose="020B0604020202020204" pitchFamily="34" charset="0"/>
            </a:endParaRPr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BC277CAC-BB57-BDB6-CCDC-D1A662266512}"/>
              </a:ext>
            </a:extLst>
          </p:cNvPr>
          <p:cNvSpPr txBox="1"/>
          <p:nvPr/>
        </p:nvSpPr>
        <p:spPr>
          <a:xfrm>
            <a:off x="533400" y="1651000"/>
            <a:ext cx="10795000" cy="615553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ja-JP" altLang="en-US" sz="3400" b="1">
                <a:solidFill>
                  <a:srgbClr val="111111"/>
                </a:solidFill>
                <a:latin typeface="Arial" panose="020B0604020202020204" pitchFamily="34" charset="0"/>
              </a:rPr>
              <a:t>詳しくは積み上げログへ</a:t>
            </a:r>
          </a:p>
        </p:txBody>
      </p: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9D003287-D81F-C9A5-77A6-B5D7398EDB9D}"/>
              </a:ext>
            </a:extLst>
          </p:cNvPr>
          <p:cNvSpPr txBox="1"/>
          <p:nvPr/>
        </p:nvSpPr>
        <p:spPr>
          <a:xfrm>
            <a:off x="533400" y="3429000"/>
            <a:ext cx="10795000" cy="1015663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zh-TW" altLang="en-US" sz="2000">
                <a:solidFill>
                  <a:srgbClr val="333333"/>
                </a:solidFill>
                <a:latin typeface="Arial" panose="020B0604020202020204" pitchFamily="34" charset="0"/>
              </a:rPr>
              <a:t>記事： </a:t>
            </a:r>
            <a:r>
              <a:rPr kumimoji="1" lang="en-US" altLang="zh-TW" sz="2000">
                <a:solidFill>
                  <a:srgbClr val="333333"/>
                </a:solidFill>
                <a:latin typeface="Arial" panose="020B0604020202020204" pitchFamily="34" charset="0"/>
              </a:rPr>
              <a:t>https://syunnjack.dev/articles/work-bar-navi
</a:t>
            </a:r>
            <a:r>
              <a:rPr kumimoji="1" lang="zh-TW" altLang="en-US" sz="2000">
                <a:solidFill>
                  <a:srgbClr val="333333"/>
                </a:solidFill>
                <a:latin typeface="Arial" panose="020B0604020202020204" pitchFamily="34" charset="0"/>
              </a:rPr>
              <a:t>学び、作り、振り返る開発記録。</a:t>
            </a:r>
            <a:endParaRPr kumimoji="1" lang="ja-JP" altLang="en-US" sz="2000">
              <a:solidFill>
                <a:srgbClr val="333333"/>
              </a:solidFill>
              <a:latin typeface="Arial" panose="020B0604020202020204" pitchFamily="34" charset="0"/>
            </a:endParaRPr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C03E15C5-99FA-28B5-F734-7F617513745E}"/>
              </a:ext>
            </a:extLst>
          </p:cNvPr>
          <p:cNvSpPr txBox="1"/>
          <p:nvPr/>
        </p:nvSpPr>
        <p:spPr>
          <a:xfrm>
            <a:off x="11112500" y="6223000"/>
            <a:ext cx="57150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1000">
                <a:solidFill>
                  <a:srgbClr val="666666"/>
                </a:solidFill>
                <a:latin typeface="Arial" panose="020B0604020202020204" pitchFamily="34" charset="0"/>
              </a:rPr>
              <a:t>06</a:t>
            </a:r>
            <a:endParaRPr kumimoji="1" lang="ja-JP" altLang="en-US" sz="1000">
              <a:solidFill>
                <a:srgbClr val="666666"/>
              </a:solidFill>
              <a:latin typeface="Arial" panose="020B0604020202020204" pitchFamily="34" charset="0"/>
            </a:endParaRPr>
          </a:p>
        </p:txBody>
      </p:sp>
      <p:pic>
        <p:nvPicPr>
          <p:cNvPr id="6" name="slide-06">
            <a:hlinkClick r:id="" action="ppaction://media"/>
            <a:extLst>
              <a:ext uri="{FF2B5EF4-FFF2-40B4-BE49-F238E27FC236}">
                <a16:creationId xmlns:a16="http://schemas.microsoft.com/office/drawing/2014/main" id="{BC9D41D1-8F85-B634-7578-8237E4EED932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5892800" y="3225800"/>
            <a:ext cx="12700" cy="12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8378428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7000"/>
    </mc:Choice>
    <mc:Fallback>
      <p:transition spd="slow" advTm="7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6426" fill="hold"/>
                                        <p:tgtEl>
                                          <p:spTgt spid="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6"/>
                </p:tgtEl>
              </p:cMediaNode>
            </p:audio>
          </p:childTnLst>
        </p:cTn>
      </p:par>
    </p:tnLst>
  </p:timing>
</p:sld>
</file>

<file path=ppt/theme/theme1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游ゴシック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162</Words>
  <Application>Microsoft Office PowerPoint</Application>
  <PresentationFormat>ユーザー設定</PresentationFormat>
  <Paragraphs>24</Paragraphs>
  <Slides>6</Slides>
  <Notes>0</Notes>
  <HiddenSlides>0</HiddenSlides>
  <MMClips>6</MMClips>
  <ScaleCrop>false</ScaleCrop>
  <HeadingPairs>
    <vt:vector size="6" baseType="variant">
      <vt:variant>
        <vt:lpstr>使用されているフォント</vt:lpstr>
      </vt:variant>
      <vt:variant>
        <vt:i4>3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6</vt:i4>
      </vt:variant>
    </vt:vector>
  </HeadingPairs>
  <TitlesOfParts>
    <vt:vector size="10" baseType="lpstr">
      <vt:lpstr>游ゴシック</vt:lpstr>
      <vt:lpstr>游ゴシック Light</vt:lpstr>
      <vt:lpstr>Arial</vt:lpstr>
      <vt:lpstr>Office テーマ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啓介 加藤</dc:creator>
  <cp:lastModifiedBy>啓介 加藤</cp:lastModifiedBy>
  <cp:revision>1</cp:revision>
  <dcterms:created xsi:type="dcterms:W3CDTF">2026-07-30T06:53:11Z</dcterms:created>
  <dcterms:modified xsi:type="dcterms:W3CDTF">2026-07-30T06:53:11Z</dcterms:modified>
</cp:coreProperties>
</file>