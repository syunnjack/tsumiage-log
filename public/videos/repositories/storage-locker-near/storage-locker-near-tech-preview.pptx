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5" d="100"/>
          <a:sy n="35" d="100"/>
        </p:scale>
        <p:origin x="99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AF4FA4-EC87-6A63-BBA0-23BB89F891F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0C02B29-BE01-0EB5-E528-87B0AF37F9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C853192-7B9E-09DB-D7AA-750F0F956CA5}"/>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4354F599-E4A9-8B08-1DEE-D4C6797D194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6FE507-B404-007C-ED5E-5BD64A5C4CC0}"/>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684868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1C7B26-73A9-9BF3-5D87-486AEDEEADC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EBD0F03-F463-9CD4-A816-8C0A582A79D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8599F33-F3BC-6B01-B161-AA390DD5FA6D}"/>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B122DF68-2838-46BA-2D3C-3050CEDB043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355B59D-2218-6829-B236-DDC16D002B87}"/>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2225477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5A2745-CD12-AF9B-5581-8281EE7EE58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16C5538-3520-60FE-EA23-9D09D83D59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CA3F51B-5B18-07BC-7B9A-C5DC2D73DC8E}"/>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AAE6AD8A-D154-8C14-56C7-8D539781B49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DF0EC13-C9ED-C00A-70E8-C386948DD4E1}"/>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259717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CAE8F6-934C-31D6-B3E9-BB18F120F49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D16F886-B70A-F027-21DB-26260442125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2FEDA6B-6DB0-322C-BCA6-C7EB95EFE16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20C5600-85F1-2CF6-6DFD-46AFE70C322A}"/>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6" name="フッター プレースホルダー 5">
            <a:extLst>
              <a:ext uri="{FF2B5EF4-FFF2-40B4-BE49-F238E27FC236}">
                <a16:creationId xmlns:a16="http://schemas.microsoft.com/office/drawing/2014/main" id="{B49B5054-50DC-8F4B-0F6A-D264812FA3C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49C4DAC-F4DF-9AAE-14CE-FDD6CB0C06D2}"/>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658912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37F1A1-9D73-72F3-9B0D-E754A25D3A6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A8D3925-3872-C22C-53AE-3A204D1E2D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3975495-4CF2-59CB-B509-D2C86A0CEEF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54E405D-5C33-FF70-1D10-B6B5502B6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8E96ED7-0E12-5CF3-39CF-3EC11496894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C0B1904-FFBD-3968-E4C6-C2BB2286D952}"/>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8" name="フッター プレースホルダー 7">
            <a:extLst>
              <a:ext uri="{FF2B5EF4-FFF2-40B4-BE49-F238E27FC236}">
                <a16:creationId xmlns:a16="http://schemas.microsoft.com/office/drawing/2014/main" id="{756555BE-7163-FBD6-E496-D3BED4D2B59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548CC36-4113-CF5C-5836-25EE136DE8C3}"/>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1985407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E6CE49-FF1E-FB5B-1E27-D29EBAF60D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F640C89-946F-263B-8929-4111843CF399}"/>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4" name="フッター プレースホルダー 3">
            <a:extLst>
              <a:ext uri="{FF2B5EF4-FFF2-40B4-BE49-F238E27FC236}">
                <a16:creationId xmlns:a16="http://schemas.microsoft.com/office/drawing/2014/main" id="{412615D7-14CF-DC16-C406-9F66A5C1962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54622D5-9973-2531-1DE9-209E8691D38F}"/>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3960358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3C875F7-FC86-905E-04C1-DD75064D1296}"/>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3" name="フッター プレースホルダー 2">
            <a:extLst>
              <a:ext uri="{FF2B5EF4-FFF2-40B4-BE49-F238E27FC236}">
                <a16:creationId xmlns:a16="http://schemas.microsoft.com/office/drawing/2014/main" id="{34127740-BFAB-E318-EDA2-1B4B33899D9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E26CC25-C004-A476-EE27-A885930B43CF}"/>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496589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345A19-FD21-445B-1C01-9D7DEBE96F2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0A608C0-87BF-6BC8-766F-EC52B76F3E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D3A1AC7-E78D-E242-8BE3-0B38152496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BB68FA6-E7A9-9812-881B-A61B9579AAC7}"/>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6" name="フッター プレースホルダー 5">
            <a:extLst>
              <a:ext uri="{FF2B5EF4-FFF2-40B4-BE49-F238E27FC236}">
                <a16:creationId xmlns:a16="http://schemas.microsoft.com/office/drawing/2014/main" id="{4CF4BA5C-760F-BDEB-75A7-60ABE2BEF6B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B9555BD-87DC-29B4-E03D-D68F6E478AED}"/>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74913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FE7DF5-B6BC-A75B-C1D8-1976AC92133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E35DB7E-9450-4244-A323-B2281E0679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B31617A-F94E-E76F-933C-028190BABE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055801E-CCB2-EC1F-9BC3-06C196263A86}"/>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6" name="フッター プレースホルダー 5">
            <a:extLst>
              <a:ext uri="{FF2B5EF4-FFF2-40B4-BE49-F238E27FC236}">
                <a16:creationId xmlns:a16="http://schemas.microsoft.com/office/drawing/2014/main" id="{B9E2756F-D52A-BE5D-C28B-708AD917A0E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D3DCDE4-1C16-B0C4-C859-17726041CE1D}"/>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1371237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C96DFF-93EA-1CFE-1B33-D089F1E8E19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FF6989A-42E9-6982-E0A7-110BEC9836C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151EEA7-E0BA-E63B-024B-70826B98BC26}"/>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CC24176C-99D8-5BAB-2338-D11F1DCD3CF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164D1F-4FFF-E198-3EFA-7AA12D886B36}"/>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57190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DC902EE-7D3A-19F5-7DB7-34A9077E689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7936F56-1188-5791-A7DB-3E0DCFE564F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28211BB-C865-98B3-4A8B-95737302E2A0}"/>
              </a:ext>
            </a:extLst>
          </p:cNvPr>
          <p:cNvSpPr>
            <a:spLocks noGrp="1"/>
          </p:cNvSpPr>
          <p:nvPr>
            <p:ph type="dt" sz="half" idx="10"/>
          </p:nvPr>
        </p:nvSpPr>
        <p:spPr/>
        <p:txBody>
          <a:bodyPr/>
          <a:lstStyle/>
          <a:p>
            <a:fld id="{C8CCBFA7-525A-4827-A28E-A4D9C57E05D3}"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487575A7-D0B1-EAC7-136A-083713979DF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CAEF388-4D61-4CF8-153A-F6A1A9619603}"/>
              </a:ext>
            </a:extLst>
          </p:cNvPr>
          <p:cNvSpPr>
            <a:spLocks noGrp="1"/>
          </p:cNvSpPr>
          <p:nvPr>
            <p:ph type="sldNum" sz="quarter" idx="12"/>
          </p:nvPr>
        </p:nvSpPr>
        <p:spPr/>
        <p:txBody>
          <a:body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3577110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CE65DD7-088C-D0D4-69AC-39B0883CBA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025D843-0909-E85C-467C-D69DA7D0D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603C09E-1E1D-AAA7-F2C7-849E0FD441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CCBFA7-525A-4827-A28E-A4D9C57E05D3}" type="datetimeFigureOut">
              <a:rPr kumimoji="1" lang="ja-JP" altLang="en-US" smtClean="0"/>
              <a:t>2026/7/30</a:t>
            </a:fld>
            <a:endParaRPr kumimoji="1" lang="ja-JP" altLang="en-US"/>
          </a:p>
        </p:txBody>
      </p:sp>
      <p:sp>
        <p:nvSpPr>
          <p:cNvPr id="5" name="フッター プレースホルダー 4">
            <a:extLst>
              <a:ext uri="{FF2B5EF4-FFF2-40B4-BE49-F238E27FC236}">
                <a16:creationId xmlns:a16="http://schemas.microsoft.com/office/drawing/2014/main" id="{2601D414-E949-F87C-6C28-8DC55F498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63C5C21-03A2-E327-8579-C5CAE611D9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7CA568-3FE1-4499-AF6E-C401A43EF1CE}" type="slidenum">
              <a:rPr kumimoji="1" lang="ja-JP" altLang="en-US" smtClean="0"/>
              <a:t>‹#›</a:t>
            </a:fld>
            <a:endParaRPr kumimoji="1" lang="ja-JP" altLang="en-US"/>
          </a:p>
        </p:txBody>
      </p:sp>
    </p:spTree>
    <p:extLst>
      <p:ext uri="{BB962C8B-B14F-4D97-AF65-F5344CB8AC3E}">
        <p14:creationId xmlns:p14="http://schemas.microsoft.com/office/powerpoint/2010/main" val="1992137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wav"/><Relationship Id="rId1" Type="http://schemas.microsoft.com/office/2007/relationships/media" Target="../media/media1.wav"/><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wav"/><Relationship Id="rId1" Type="http://schemas.microsoft.com/office/2007/relationships/media" Target="../media/media2.wav"/><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wav"/><Relationship Id="rId1" Type="http://schemas.microsoft.com/office/2007/relationships/media" Target="../media/media3.wav"/><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wav"/><Relationship Id="rId1" Type="http://schemas.microsoft.com/office/2007/relationships/media" Target="../media/media4.wav"/><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wav"/><Relationship Id="rId1" Type="http://schemas.microsoft.com/office/2007/relationships/media" Target="../media/media5.wav"/><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wav"/><Relationship Id="rId1" Type="http://schemas.microsoft.com/office/2007/relationships/media" Target="../media/media6.wav"/><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7A152CB-BFFF-CE15-C677-3986CBA9E996}"/>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8ED7D938-3911-7995-D93E-DBDF96976226}"/>
              </a:ext>
            </a:extLst>
          </p:cNvPr>
          <p:cNvSpPr txBox="1"/>
          <p:nvPr/>
        </p:nvSpPr>
        <p:spPr>
          <a:xfrm>
            <a:off x="533400" y="1651000"/>
            <a:ext cx="10795000" cy="615553"/>
          </a:xfrm>
          <a:prstGeom prst="rect">
            <a:avLst/>
          </a:prstGeom>
          <a:noFill/>
        </p:spPr>
        <p:txBody>
          <a:bodyPr vert="horz" rtlCol="0">
            <a:spAutoFit/>
          </a:bodyPr>
          <a:lstStyle/>
          <a:p>
            <a:r>
              <a:rPr kumimoji="1" lang="en-US" altLang="ja-JP" sz="3400" b="1">
                <a:solidFill>
                  <a:srgbClr val="111111"/>
                </a:solidFill>
                <a:latin typeface="Arial" panose="020B0604020202020204" pitchFamily="34" charset="0"/>
              </a:rPr>
              <a:t>Storage Locker Near</a:t>
            </a:r>
            <a:r>
              <a:rPr kumimoji="1" lang="ja-JP" altLang="en-US" sz="3400" b="1">
                <a:solidFill>
                  <a:srgbClr val="111111"/>
                </a:solidFill>
                <a:latin typeface="Arial" panose="020B0604020202020204" pitchFamily="34" charset="0"/>
              </a:rPr>
              <a:t>の技術解説</a:t>
            </a:r>
          </a:p>
        </p:txBody>
      </p:sp>
      <p:sp>
        <p:nvSpPr>
          <p:cNvPr id="4" name="テキスト ボックス 3">
            <a:extLst>
              <a:ext uri="{FF2B5EF4-FFF2-40B4-BE49-F238E27FC236}">
                <a16:creationId xmlns:a16="http://schemas.microsoft.com/office/drawing/2014/main" id="{7AA3F4F2-BCEA-675C-3B99-6B15A2D4D962}"/>
              </a:ext>
            </a:extLst>
          </p:cNvPr>
          <p:cNvSpPr txBox="1"/>
          <p:nvPr/>
        </p:nvSpPr>
        <p:spPr>
          <a:xfrm>
            <a:off x="533400" y="3429000"/>
            <a:ext cx="10795000" cy="400110"/>
          </a:xfrm>
          <a:prstGeom prst="rect">
            <a:avLst/>
          </a:prstGeom>
          <a:noFill/>
        </p:spPr>
        <p:txBody>
          <a:bodyPr vert="horz" rtlCol="0">
            <a:spAutoFit/>
          </a:bodyPr>
          <a:lstStyle/>
          <a:p>
            <a:r>
              <a:rPr kumimoji="1" lang="ja-JP" altLang="en-US" sz="2000">
                <a:solidFill>
                  <a:srgbClr val="333333"/>
                </a:solidFill>
                <a:latin typeface="Arial" panose="020B0604020202020204" pitchFamily="34" charset="0"/>
              </a:rPr>
              <a:t>設計・実装・コミットから学ぶ短時間プレビュー</a:t>
            </a:r>
          </a:p>
        </p:txBody>
      </p:sp>
      <p:sp>
        <p:nvSpPr>
          <p:cNvPr id="5" name="テキスト ボックス 4">
            <a:extLst>
              <a:ext uri="{FF2B5EF4-FFF2-40B4-BE49-F238E27FC236}">
                <a16:creationId xmlns:a16="http://schemas.microsoft.com/office/drawing/2014/main" id="{158A5813-4A26-EB39-0DAB-77F889ADD596}"/>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01</a:t>
            </a:r>
            <a:endParaRPr kumimoji="1" lang="ja-JP" altLang="en-US" sz="1000">
              <a:solidFill>
                <a:srgbClr val="666666"/>
              </a:solidFill>
              <a:latin typeface="Arial" panose="020B0604020202020204" pitchFamily="34" charset="0"/>
            </a:endParaRPr>
          </a:p>
        </p:txBody>
      </p:sp>
      <p:pic>
        <p:nvPicPr>
          <p:cNvPr id="6" name="slide-01">
            <a:hlinkClick r:id="" action="ppaction://media"/>
            <a:extLst>
              <a:ext uri="{FF2B5EF4-FFF2-40B4-BE49-F238E27FC236}">
                <a16:creationId xmlns:a16="http://schemas.microsoft.com/office/drawing/2014/main" id="{C5D34DAA-5CF3-CCCE-D3C2-6E907A7D094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2415441590"/>
      </p:ext>
    </p:extLst>
  </p:cSld>
  <p:clrMapOvr>
    <a:masterClrMapping/>
  </p:clrMapOvr>
  <mc:AlternateContent xmlns:mc="http://schemas.openxmlformats.org/markup-compatibility/2006">
    <mc:Choice xmlns:p14="http://schemas.microsoft.com/office/powerpoint/2010/main" Requires="p14">
      <p:transition spd="slow" p14:dur="2000" advTm="6000"/>
    </mc:Choice>
    <mc:Fallback>
      <p:transition spd="slow" advTm="6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74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722DCB5-7D93-EAF3-C9A3-2F5165E434EA}"/>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5A47A7FB-C323-3B5D-67C3-C2841EB196D5}"/>
              </a:ext>
            </a:extLst>
          </p:cNvPr>
          <p:cNvSpPr txBox="1"/>
          <p:nvPr/>
        </p:nvSpPr>
        <p:spPr>
          <a:xfrm>
            <a:off x="533400" y="1651000"/>
            <a:ext cx="10795000" cy="615553"/>
          </a:xfrm>
          <a:prstGeom prst="rect">
            <a:avLst/>
          </a:prstGeom>
          <a:noFill/>
        </p:spPr>
        <p:txBody>
          <a:bodyPr vert="horz" rtlCol="0">
            <a:spAutoFit/>
          </a:bodyPr>
          <a:lstStyle/>
          <a:p>
            <a:r>
              <a:rPr kumimoji="1" lang="ja-JP" altLang="en-US" sz="3400" b="1">
                <a:solidFill>
                  <a:srgbClr val="111111"/>
                </a:solidFill>
                <a:latin typeface="Arial" panose="020B0604020202020204" pitchFamily="34" charset="0"/>
              </a:rPr>
              <a:t>このプロジェクトは何を解決する？</a:t>
            </a:r>
          </a:p>
        </p:txBody>
      </p:sp>
      <p:sp>
        <p:nvSpPr>
          <p:cNvPr id="4" name="テキスト ボックス 3">
            <a:extLst>
              <a:ext uri="{FF2B5EF4-FFF2-40B4-BE49-F238E27FC236}">
                <a16:creationId xmlns:a16="http://schemas.microsoft.com/office/drawing/2014/main" id="{C7C6961D-71CD-C9F9-4151-056F083F4831}"/>
              </a:ext>
            </a:extLst>
          </p:cNvPr>
          <p:cNvSpPr txBox="1"/>
          <p:nvPr/>
        </p:nvSpPr>
        <p:spPr>
          <a:xfrm>
            <a:off x="533400" y="3429000"/>
            <a:ext cx="10795000" cy="707886"/>
          </a:xfrm>
          <a:prstGeom prst="rect">
            <a:avLst/>
          </a:prstGeom>
          <a:noFill/>
        </p:spPr>
        <p:txBody>
          <a:bodyPr vert="horz" rtlCol="0">
            <a:spAutoFit/>
          </a:bodyPr>
          <a:lstStyle/>
          <a:p>
            <a:r>
              <a:rPr kumimoji="1" lang="en-US" altLang="ja-JP" sz="2000">
                <a:solidFill>
                  <a:srgbClr val="333333"/>
                </a:solidFill>
                <a:latin typeface="Arial" panose="020B0604020202020204" pitchFamily="34" charset="0"/>
              </a:rPr>
              <a:t>LockerLoop CashPoint </a:t>
            </a:r>
            <a:r>
              <a:rPr kumimoji="1" lang="ja-JP" altLang="en-US" sz="2000">
                <a:solidFill>
                  <a:srgbClr val="333333"/>
                </a:solidFill>
                <a:latin typeface="Arial" panose="020B0604020202020204" pitchFamily="34" charset="0"/>
              </a:rPr>
              <a:t>近くの空きコインロッカーを探し、予約パス発行と地域送客のキャッシュポイント化までを見せる静的プロトタイプです</a:t>
            </a:r>
          </a:p>
        </p:txBody>
      </p:sp>
      <p:sp>
        <p:nvSpPr>
          <p:cNvPr id="5" name="テキスト ボックス 4">
            <a:extLst>
              <a:ext uri="{FF2B5EF4-FFF2-40B4-BE49-F238E27FC236}">
                <a16:creationId xmlns:a16="http://schemas.microsoft.com/office/drawing/2014/main" id="{496807AC-1157-D7F9-144D-E4E8A43BC908}"/>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02</a:t>
            </a:r>
            <a:endParaRPr kumimoji="1" lang="ja-JP" altLang="en-US" sz="1000">
              <a:solidFill>
                <a:srgbClr val="666666"/>
              </a:solidFill>
              <a:latin typeface="Arial" panose="020B0604020202020204" pitchFamily="34" charset="0"/>
            </a:endParaRPr>
          </a:p>
        </p:txBody>
      </p:sp>
      <p:pic>
        <p:nvPicPr>
          <p:cNvPr id="6" name="slide-02">
            <a:hlinkClick r:id="" action="ppaction://media"/>
            <a:extLst>
              <a:ext uri="{FF2B5EF4-FFF2-40B4-BE49-F238E27FC236}">
                <a16:creationId xmlns:a16="http://schemas.microsoft.com/office/drawing/2014/main" id="{B04D0520-285B-06AC-A469-2B720AE9C40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1319517418"/>
      </p:ext>
    </p:extLst>
  </p:cSld>
  <p:clrMapOvr>
    <a:masterClrMapping/>
  </p:clrMapOvr>
  <mc:AlternateContent xmlns:mc="http://schemas.openxmlformats.org/markup-compatibility/2006">
    <mc:Choice xmlns:p14="http://schemas.microsoft.com/office/powerpoint/2010/main" Requires="p14">
      <p:transition spd="slow" p14:dur="2000" advTm="11000"/>
    </mc:Choice>
    <mc:Fallback>
      <p:transition spd="slow" advTm="11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17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6E06939-9C7B-92C5-80DB-17B911389D7B}"/>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F9C12431-7AD3-3B77-4CE7-CE014CC05ED6}"/>
              </a:ext>
            </a:extLst>
          </p:cNvPr>
          <p:cNvSpPr txBox="1"/>
          <p:nvPr/>
        </p:nvSpPr>
        <p:spPr>
          <a:xfrm>
            <a:off x="533400" y="1651000"/>
            <a:ext cx="10795000" cy="615553"/>
          </a:xfrm>
          <a:prstGeom prst="rect">
            <a:avLst/>
          </a:prstGeom>
          <a:noFill/>
        </p:spPr>
        <p:txBody>
          <a:bodyPr vert="horz" rtlCol="0">
            <a:spAutoFit/>
          </a:bodyPr>
          <a:lstStyle/>
          <a:p>
            <a:r>
              <a:rPr kumimoji="1" lang="ja-JP" altLang="en-US" sz="3400" b="1">
                <a:solidFill>
                  <a:srgbClr val="111111"/>
                </a:solidFill>
                <a:latin typeface="Arial" panose="020B0604020202020204" pitchFamily="34" charset="0"/>
              </a:rPr>
              <a:t>技術スタック</a:t>
            </a:r>
          </a:p>
        </p:txBody>
      </p:sp>
      <p:sp>
        <p:nvSpPr>
          <p:cNvPr id="4" name="テキスト ボックス 3">
            <a:extLst>
              <a:ext uri="{FF2B5EF4-FFF2-40B4-BE49-F238E27FC236}">
                <a16:creationId xmlns:a16="http://schemas.microsoft.com/office/drawing/2014/main" id="{C27E8D87-94EE-798C-6761-00DDEF32B541}"/>
              </a:ext>
            </a:extLst>
          </p:cNvPr>
          <p:cNvSpPr txBox="1"/>
          <p:nvPr/>
        </p:nvSpPr>
        <p:spPr>
          <a:xfrm>
            <a:off x="533400" y="3429000"/>
            <a:ext cx="10795000" cy="707886"/>
          </a:xfrm>
          <a:prstGeom prst="rect">
            <a:avLst/>
          </a:prstGeom>
          <a:noFill/>
        </p:spPr>
        <p:txBody>
          <a:bodyPr vert="horz" rtlCol="0">
            <a:spAutoFit/>
          </a:bodyPr>
          <a:lstStyle/>
          <a:p>
            <a:r>
              <a:rPr kumimoji="1" lang="ja-JP" altLang="en-US" sz="2000">
                <a:solidFill>
                  <a:srgbClr val="333333"/>
                </a:solidFill>
                <a:latin typeface="Arial" panose="020B0604020202020204" pitchFamily="34" charset="0"/>
              </a:rPr>
              <a:t>主要技術：</a:t>
            </a:r>
            <a:r>
              <a:rPr kumimoji="1" lang="en-US" altLang="ja-JP" sz="2000">
                <a:solidFill>
                  <a:srgbClr val="333333"/>
                </a:solidFill>
                <a:latin typeface="Arial" panose="020B0604020202020204" pitchFamily="34" charset="0"/>
              </a:rPr>
              <a:t>JavaScript</a:t>
            </a:r>
            <a:r>
              <a:rPr kumimoji="1" lang="ja-JP" altLang="en-US" sz="2000">
                <a:solidFill>
                  <a:srgbClr val="333333"/>
                </a:solidFill>
                <a:latin typeface="Arial" panose="020B0604020202020204" pitchFamily="34" charset="0"/>
              </a:rPr>
              <a:t>・</a:t>
            </a:r>
            <a:r>
              <a:rPr kumimoji="1" lang="en-US" altLang="ja-JP" sz="2000">
                <a:solidFill>
                  <a:srgbClr val="333333"/>
                </a:solidFill>
                <a:latin typeface="Arial" panose="020B0604020202020204" pitchFamily="34" charset="0"/>
              </a:rPr>
              <a:t>CSS</a:t>
            </a:r>
            <a:r>
              <a:rPr kumimoji="1" lang="ja-JP" altLang="en-US" sz="2000">
                <a:solidFill>
                  <a:srgbClr val="333333"/>
                </a:solidFill>
                <a:latin typeface="Arial" panose="020B0604020202020204" pitchFamily="34" charset="0"/>
              </a:rPr>
              <a:t>・</a:t>
            </a:r>
            <a:r>
              <a:rPr kumimoji="1" lang="en-US" altLang="ja-JP" sz="2000">
                <a:solidFill>
                  <a:srgbClr val="333333"/>
                </a:solidFill>
                <a:latin typeface="Arial" panose="020B0604020202020204" pitchFamily="34" charset="0"/>
              </a:rPr>
              <a:t>HTML
</a:t>
            </a:r>
            <a:r>
              <a:rPr kumimoji="1" lang="ja-JP" altLang="en-US" sz="2000">
                <a:solidFill>
                  <a:srgbClr val="333333"/>
                </a:solidFill>
                <a:latin typeface="Arial" panose="020B0604020202020204" pitchFamily="34" charset="0"/>
              </a:rPr>
              <a:t>役割を分け、保守しやすい構成を目指しています。</a:t>
            </a:r>
          </a:p>
        </p:txBody>
      </p:sp>
      <p:sp>
        <p:nvSpPr>
          <p:cNvPr id="5" name="テキスト ボックス 4">
            <a:extLst>
              <a:ext uri="{FF2B5EF4-FFF2-40B4-BE49-F238E27FC236}">
                <a16:creationId xmlns:a16="http://schemas.microsoft.com/office/drawing/2014/main" id="{EA64C8DE-B08D-C321-92A0-539A7198B8B6}"/>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03</a:t>
            </a:r>
            <a:endParaRPr kumimoji="1" lang="ja-JP" altLang="en-US" sz="1000">
              <a:solidFill>
                <a:srgbClr val="666666"/>
              </a:solidFill>
              <a:latin typeface="Arial" panose="020B0604020202020204" pitchFamily="34" charset="0"/>
            </a:endParaRPr>
          </a:p>
        </p:txBody>
      </p:sp>
      <p:pic>
        <p:nvPicPr>
          <p:cNvPr id="6" name="slide-03">
            <a:hlinkClick r:id="" action="ppaction://media"/>
            <a:extLst>
              <a:ext uri="{FF2B5EF4-FFF2-40B4-BE49-F238E27FC236}">
                <a16:creationId xmlns:a16="http://schemas.microsoft.com/office/drawing/2014/main" id="{CF962556-E116-6434-067D-2EC47C7774B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3560704462"/>
      </p:ext>
    </p:extLst>
  </p:cSld>
  <p:clrMapOvr>
    <a:masterClrMapping/>
  </p:clrMapOvr>
  <mc:AlternateContent xmlns:mc="http://schemas.openxmlformats.org/markup-compatibility/2006">
    <mc:Choice xmlns:p14="http://schemas.microsoft.com/office/powerpoint/2010/main" Requires="p14">
      <p:transition spd="slow" p14:dur="2000" advTm="11000"/>
    </mc:Choice>
    <mc:Fallback>
      <p:transition spd="slow" advTm="11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31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C53BCE8-0FC1-051D-E6D5-BB3D2183BD59}"/>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785D78A1-AB06-DA13-5C66-6A37E09D1AA5}"/>
              </a:ext>
            </a:extLst>
          </p:cNvPr>
          <p:cNvSpPr txBox="1"/>
          <p:nvPr/>
        </p:nvSpPr>
        <p:spPr>
          <a:xfrm>
            <a:off x="533400" y="1651000"/>
            <a:ext cx="10795000" cy="615553"/>
          </a:xfrm>
          <a:prstGeom prst="rect">
            <a:avLst/>
          </a:prstGeom>
          <a:noFill/>
        </p:spPr>
        <p:txBody>
          <a:bodyPr vert="horz" rtlCol="0">
            <a:spAutoFit/>
          </a:bodyPr>
          <a:lstStyle/>
          <a:p>
            <a:r>
              <a:rPr kumimoji="1" lang="ja-JP" altLang="en-US" sz="3400" b="1">
                <a:solidFill>
                  <a:srgbClr val="111111"/>
                </a:solidFill>
                <a:latin typeface="Arial" panose="020B0604020202020204" pitchFamily="34" charset="0"/>
              </a:rPr>
              <a:t>リポジトリの読みどころ</a:t>
            </a:r>
          </a:p>
        </p:txBody>
      </p:sp>
      <p:sp>
        <p:nvSpPr>
          <p:cNvPr id="4" name="テキスト ボックス 3">
            <a:extLst>
              <a:ext uri="{FF2B5EF4-FFF2-40B4-BE49-F238E27FC236}">
                <a16:creationId xmlns:a16="http://schemas.microsoft.com/office/drawing/2014/main" id="{DE83D459-D905-80B4-AF45-C28B2EAA85E6}"/>
              </a:ext>
            </a:extLst>
          </p:cNvPr>
          <p:cNvSpPr txBox="1"/>
          <p:nvPr/>
        </p:nvSpPr>
        <p:spPr>
          <a:xfrm>
            <a:off x="533400" y="3429000"/>
            <a:ext cx="10795000" cy="707886"/>
          </a:xfrm>
          <a:prstGeom prst="rect">
            <a:avLst/>
          </a:prstGeom>
          <a:noFill/>
        </p:spPr>
        <p:txBody>
          <a:bodyPr vert="horz" rtlCol="0">
            <a:spAutoFit/>
          </a:bodyPr>
          <a:lstStyle/>
          <a:p>
            <a:r>
              <a:rPr kumimoji="1" lang="ja-JP" altLang="en-US" sz="2000">
                <a:solidFill>
                  <a:srgbClr val="333333"/>
                </a:solidFill>
                <a:latin typeface="Arial" panose="020B0604020202020204" pitchFamily="34" charset="0"/>
              </a:rPr>
              <a:t>公開コード、</a:t>
            </a:r>
            <a:r>
              <a:rPr kumimoji="1" lang="en-US" altLang="ja-JP" sz="2000">
                <a:solidFill>
                  <a:srgbClr val="333333"/>
                </a:solidFill>
                <a:latin typeface="Arial" panose="020B0604020202020204" pitchFamily="34" charset="0"/>
              </a:rPr>
              <a:t>README</a:t>
            </a:r>
            <a:r>
              <a:rPr kumimoji="1" lang="ja-JP" altLang="en-US" sz="2000">
                <a:solidFill>
                  <a:srgbClr val="333333"/>
                </a:solidFill>
                <a:latin typeface="Arial" panose="020B0604020202020204" pitchFamily="34" charset="0"/>
              </a:rPr>
              <a:t>、コミット履歴から設計判断を確認できます。
主なファイル：</a:t>
            </a:r>
            <a:r>
              <a:rPr kumimoji="1" lang="en-US" altLang="ja-JP" sz="2000">
                <a:solidFill>
                  <a:srgbClr val="333333"/>
                </a:solidFill>
                <a:latin typeface="Arial" panose="020B0604020202020204" pitchFamily="34" charset="0"/>
              </a:rPr>
              <a:t>LINE_SETUP.md</a:t>
            </a:r>
            <a:r>
              <a:rPr kumimoji="1" lang="ja-JP" altLang="en-US" sz="2000">
                <a:solidFill>
                  <a:srgbClr val="333333"/>
                </a:solidFill>
                <a:latin typeface="Arial" panose="020B0604020202020204" pitchFamily="34" charset="0"/>
              </a:rPr>
              <a:t>、</a:t>
            </a:r>
            <a:r>
              <a:rPr kumimoji="1" lang="en-US" altLang="ja-JP" sz="2000">
                <a:solidFill>
                  <a:srgbClr val="333333"/>
                </a:solidFill>
                <a:latin typeface="Arial" panose="020B0604020202020204" pitchFamily="34" charset="0"/>
              </a:rPr>
              <a:t>README.md</a:t>
            </a:r>
            <a:r>
              <a:rPr kumimoji="1" lang="ja-JP" altLang="en-US" sz="2000">
                <a:solidFill>
                  <a:srgbClr val="333333"/>
                </a:solidFill>
                <a:latin typeface="Arial" panose="020B0604020202020204" pitchFamily="34" charset="0"/>
              </a:rPr>
              <a:t>、</a:t>
            </a:r>
            <a:r>
              <a:rPr kumimoji="1" lang="en-US" altLang="ja-JP" sz="2000">
                <a:solidFill>
                  <a:srgbClr val="333333"/>
                </a:solidFill>
                <a:latin typeface="Arial" panose="020B0604020202020204" pitchFamily="34" charset="0"/>
              </a:rPr>
              <a:t>api</a:t>
            </a:r>
            <a:endParaRPr kumimoji="1" lang="ja-JP" altLang="en-US" sz="2000">
              <a:solidFill>
                <a:srgbClr val="333333"/>
              </a:solidFill>
              <a:latin typeface="Arial" panose="020B0604020202020204" pitchFamily="34" charset="0"/>
            </a:endParaRPr>
          </a:p>
        </p:txBody>
      </p:sp>
      <p:sp>
        <p:nvSpPr>
          <p:cNvPr id="5" name="テキスト ボックス 4">
            <a:extLst>
              <a:ext uri="{FF2B5EF4-FFF2-40B4-BE49-F238E27FC236}">
                <a16:creationId xmlns:a16="http://schemas.microsoft.com/office/drawing/2014/main" id="{A7FC665C-6B5C-A060-B548-913DB50451EA}"/>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04</a:t>
            </a:r>
            <a:endParaRPr kumimoji="1" lang="ja-JP" altLang="en-US" sz="1000">
              <a:solidFill>
                <a:srgbClr val="666666"/>
              </a:solidFill>
              <a:latin typeface="Arial" panose="020B0604020202020204" pitchFamily="34" charset="0"/>
            </a:endParaRPr>
          </a:p>
        </p:txBody>
      </p:sp>
      <p:pic>
        <p:nvPicPr>
          <p:cNvPr id="6" name="slide-04">
            <a:hlinkClick r:id="" action="ppaction://media"/>
            <a:extLst>
              <a:ext uri="{FF2B5EF4-FFF2-40B4-BE49-F238E27FC236}">
                <a16:creationId xmlns:a16="http://schemas.microsoft.com/office/drawing/2014/main" id="{CBBFC175-388C-A7CE-FF39-826D9C05E51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2134837121"/>
      </p:ext>
    </p:extLst>
  </p:cSld>
  <p:clrMapOvr>
    <a:masterClrMapping/>
  </p:clrMapOvr>
  <mc:AlternateContent xmlns:mc="http://schemas.openxmlformats.org/markup-compatibility/2006">
    <mc:Choice xmlns:p14="http://schemas.microsoft.com/office/powerpoint/2010/main" Requires="p14">
      <p:transition spd="slow" p14:dur="2000" advTm="10000"/>
    </mc:Choice>
    <mc:Fallback>
      <p:transition spd="slow" advTm="1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3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1F2158E-025D-F810-7BBD-A5D4540AB710}"/>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8EAC8B42-FD2B-72D5-79FA-A03857E5A9C1}"/>
              </a:ext>
            </a:extLst>
          </p:cNvPr>
          <p:cNvSpPr txBox="1"/>
          <p:nvPr/>
        </p:nvSpPr>
        <p:spPr>
          <a:xfrm>
            <a:off x="533400" y="1651000"/>
            <a:ext cx="10795000" cy="615553"/>
          </a:xfrm>
          <a:prstGeom prst="rect">
            <a:avLst/>
          </a:prstGeom>
          <a:noFill/>
        </p:spPr>
        <p:txBody>
          <a:bodyPr vert="horz" rtlCol="0">
            <a:spAutoFit/>
          </a:bodyPr>
          <a:lstStyle/>
          <a:p>
            <a:r>
              <a:rPr kumimoji="1" lang="ja-JP" altLang="en-US" sz="3400" b="1">
                <a:solidFill>
                  <a:srgbClr val="111111"/>
                </a:solidFill>
                <a:latin typeface="Arial" panose="020B0604020202020204" pitchFamily="34" charset="0"/>
              </a:rPr>
              <a:t>コミットから分かる改善</a:t>
            </a:r>
          </a:p>
        </p:txBody>
      </p:sp>
      <p:sp>
        <p:nvSpPr>
          <p:cNvPr id="4" name="テキスト ボックス 3">
            <a:extLst>
              <a:ext uri="{FF2B5EF4-FFF2-40B4-BE49-F238E27FC236}">
                <a16:creationId xmlns:a16="http://schemas.microsoft.com/office/drawing/2014/main" id="{0FC4A81B-C809-DB21-C77B-8C50E6346387}"/>
              </a:ext>
            </a:extLst>
          </p:cNvPr>
          <p:cNvSpPr txBox="1"/>
          <p:nvPr/>
        </p:nvSpPr>
        <p:spPr>
          <a:xfrm>
            <a:off x="533400" y="3429000"/>
            <a:ext cx="10795000" cy="400110"/>
          </a:xfrm>
          <a:prstGeom prst="rect">
            <a:avLst/>
          </a:prstGeom>
          <a:noFill/>
        </p:spPr>
        <p:txBody>
          <a:bodyPr vert="horz" rtlCol="0">
            <a:spAutoFit/>
          </a:bodyPr>
          <a:lstStyle/>
          <a:p>
            <a:r>
              <a:rPr kumimoji="1" lang="en-US" altLang="ja-JP" sz="2000">
                <a:solidFill>
                  <a:srgbClr val="333333"/>
                </a:solidFill>
                <a:latin typeface="Arial" panose="020B0604020202020204" pitchFamily="34" charset="0"/>
              </a:rPr>
              <a:t>Add LINE webhook setup for user ID capture</a:t>
            </a:r>
            <a:endParaRPr kumimoji="1" lang="ja-JP" altLang="en-US" sz="2000">
              <a:solidFill>
                <a:srgbClr val="333333"/>
              </a:solidFill>
              <a:latin typeface="Arial" panose="020B0604020202020204" pitchFamily="34" charset="0"/>
            </a:endParaRPr>
          </a:p>
        </p:txBody>
      </p:sp>
      <p:sp>
        <p:nvSpPr>
          <p:cNvPr id="5" name="テキスト ボックス 4">
            <a:extLst>
              <a:ext uri="{FF2B5EF4-FFF2-40B4-BE49-F238E27FC236}">
                <a16:creationId xmlns:a16="http://schemas.microsoft.com/office/drawing/2014/main" id="{3283D3BB-AD94-C290-2B3D-D690C02B6A18}"/>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05</a:t>
            </a:r>
            <a:endParaRPr kumimoji="1" lang="ja-JP" altLang="en-US" sz="1000">
              <a:solidFill>
                <a:srgbClr val="666666"/>
              </a:solidFill>
              <a:latin typeface="Arial" panose="020B0604020202020204" pitchFamily="34" charset="0"/>
            </a:endParaRPr>
          </a:p>
        </p:txBody>
      </p:sp>
      <p:pic>
        <p:nvPicPr>
          <p:cNvPr id="6" name="slide-05">
            <a:hlinkClick r:id="" action="ppaction://media"/>
            <a:extLst>
              <a:ext uri="{FF2B5EF4-FFF2-40B4-BE49-F238E27FC236}">
                <a16:creationId xmlns:a16="http://schemas.microsoft.com/office/drawing/2014/main" id="{8FC45157-A452-20EB-3E81-DFF08E4095E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1461695269"/>
      </p:ext>
    </p:extLst>
  </p:cSld>
  <p:clrMapOvr>
    <a:masterClrMapping/>
  </p:clrMapOvr>
  <mc:AlternateContent xmlns:mc="http://schemas.openxmlformats.org/markup-compatibility/2006">
    <mc:Choice xmlns:p14="http://schemas.microsoft.com/office/powerpoint/2010/main" Requires="p14">
      <p:transition spd="slow" p14:dur="2000" advTm="8000"/>
    </mc:Choice>
    <mc:Fallback>
      <p:transition spd="slow" advTm="8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37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DFFE0D7-0241-9190-198D-FE1ADD205DC5}"/>
              </a:ext>
            </a:extLst>
          </p:cNvPr>
          <p:cNvSpPr txBox="1"/>
          <p:nvPr/>
        </p:nvSpPr>
        <p:spPr>
          <a:xfrm>
            <a:off x="533400" y="406400"/>
            <a:ext cx="10795000" cy="338554"/>
          </a:xfrm>
          <a:prstGeom prst="rect">
            <a:avLst/>
          </a:prstGeom>
          <a:noFill/>
        </p:spPr>
        <p:txBody>
          <a:bodyPr vert="horz" rtlCol="0">
            <a:spAutoFit/>
          </a:bodyPr>
          <a:lstStyle/>
          <a:p>
            <a:r>
              <a:rPr kumimoji="1" lang="en-US" altLang="ja-JP" sz="1600" b="1">
                <a:solidFill>
                  <a:srgbClr val="556F35"/>
                </a:solidFill>
                <a:latin typeface="Arial" panose="020B0604020202020204" pitchFamily="34" charset="0"/>
              </a:rPr>
              <a:t>TSUMIAGE LOG / TECH VIDEO</a:t>
            </a:r>
            <a:endParaRPr kumimoji="1" lang="ja-JP" altLang="en-US" sz="1600" b="1">
              <a:solidFill>
                <a:srgbClr val="556F35"/>
              </a:solidFill>
              <a:latin typeface="Arial" panose="020B0604020202020204" pitchFamily="34" charset="0"/>
            </a:endParaRPr>
          </a:p>
        </p:txBody>
      </p:sp>
      <p:sp>
        <p:nvSpPr>
          <p:cNvPr id="3" name="テキスト ボックス 2">
            <a:extLst>
              <a:ext uri="{FF2B5EF4-FFF2-40B4-BE49-F238E27FC236}">
                <a16:creationId xmlns:a16="http://schemas.microsoft.com/office/drawing/2014/main" id="{FB032A3A-85DF-1195-A7C8-22783536392A}"/>
              </a:ext>
            </a:extLst>
          </p:cNvPr>
          <p:cNvSpPr txBox="1"/>
          <p:nvPr/>
        </p:nvSpPr>
        <p:spPr>
          <a:xfrm>
            <a:off x="533400" y="1651000"/>
            <a:ext cx="10795000" cy="615553"/>
          </a:xfrm>
          <a:prstGeom prst="rect">
            <a:avLst/>
          </a:prstGeom>
          <a:noFill/>
        </p:spPr>
        <p:txBody>
          <a:bodyPr vert="horz" rtlCol="0">
            <a:spAutoFit/>
          </a:bodyPr>
          <a:lstStyle/>
          <a:p>
            <a:r>
              <a:rPr kumimoji="1" lang="ja-JP" altLang="en-US" sz="3400" b="1">
                <a:solidFill>
                  <a:srgbClr val="111111"/>
                </a:solidFill>
                <a:latin typeface="Arial" panose="020B0604020202020204" pitchFamily="34" charset="0"/>
              </a:rPr>
              <a:t>詳しくは積み上げログへ</a:t>
            </a:r>
          </a:p>
        </p:txBody>
      </p:sp>
      <p:sp>
        <p:nvSpPr>
          <p:cNvPr id="4" name="テキスト ボックス 3">
            <a:extLst>
              <a:ext uri="{FF2B5EF4-FFF2-40B4-BE49-F238E27FC236}">
                <a16:creationId xmlns:a16="http://schemas.microsoft.com/office/drawing/2014/main" id="{C0EEDEAA-5964-0B07-64BD-C9B1E3F6D44A}"/>
              </a:ext>
            </a:extLst>
          </p:cNvPr>
          <p:cNvSpPr txBox="1"/>
          <p:nvPr/>
        </p:nvSpPr>
        <p:spPr>
          <a:xfrm>
            <a:off x="533400" y="3429000"/>
            <a:ext cx="10795000" cy="1015663"/>
          </a:xfrm>
          <a:prstGeom prst="rect">
            <a:avLst/>
          </a:prstGeom>
          <a:noFill/>
        </p:spPr>
        <p:txBody>
          <a:bodyPr vert="horz" rtlCol="0">
            <a:spAutoFit/>
          </a:bodyPr>
          <a:lstStyle/>
          <a:p>
            <a:r>
              <a:rPr kumimoji="1" lang="zh-TW" altLang="en-US" sz="2000">
                <a:solidFill>
                  <a:srgbClr val="333333"/>
                </a:solidFill>
                <a:latin typeface="Arial" panose="020B0604020202020204" pitchFamily="34" charset="0"/>
              </a:rPr>
              <a:t>記事： </a:t>
            </a:r>
            <a:r>
              <a:rPr kumimoji="1" lang="en-US" altLang="zh-TW" sz="2000">
                <a:solidFill>
                  <a:srgbClr val="333333"/>
                </a:solidFill>
                <a:latin typeface="Arial" panose="020B0604020202020204" pitchFamily="34" charset="0"/>
              </a:rPr>
              <a:t>https://syunnjack.dev/articles/storage-locker-near
</a:t>
            </a:r>
            <a:r>
              <a:rPr kumimoji="1" lang="zh-TW" altLang="en-US" sz="2000">
                <a:solidFill>
                  <a:srgbClr val="333333"/>
                </a:solidFill>
                <a:latin typeface="Arial" panose="020B0604020202020204" pitchFamily="34" charset="0"/>
              </a:rPr>
              <a:t>学び、作り、振り返る開発記録。</a:t>
            </a:r>
            <a:endParaRPr kumimoji="1" lang="ja-JP" altLang="en-US" sz="2000">
              <a:solidFill>
                <a:srgbClr val="333333"/>
              </a:solidFill>
              <a:latin typeface="Arial" panose="020B0604020202020204" pitchFamily="34" charset="0"/>
            </a:endParaRPr>
          </a:p>
        </p:txBody>
      </p:sp>
      <p:sp>
        <p:nvSpPr>
          <p:cNvPr id="5" name="テキスト ボックス 4">
            <a:extLst>
              <a:ext uri="{FF2B5EF4-FFF2-40B4-BE49-F238E27FC236}">
                <a16:creationId xmlns:a16="http://schemas.microsoft.com/office/drawing/2014/main" id="{2D5688C5-4AC7-306C-46D0-5D5A877DC258}"/>
              </a:ext>
            </a:extLst>
          </p:cNvPr>
          <p:cNvSpPr txBox="1"/>
          <p:nvPr/>
        </p:nvSpPr>
        <p:spPr>
          <a:xfrm>
            <a:off x="11112500" y="6223000"/>
            <a:ext cx="571500" cy="246221"/>
          </a:xfrm>
          <a:prstGeom prst="rect">
            <a:avLst/>
          </a:prstGeom>
          <a:noFill/>
        </p:spPr>
        <p:txBody>
          <a:bodyPr vert="horz" rtlCol="0">
            <a:spAutoFit/>
          </a:bodyPr>
          <a:lstStyle/>
          <a:p>
            <a:r>
              <a:rPr kumimoji="1" lang="en-US" altLang="ja-JP" sz="1000">
                <a:solidFill>
                  <a:srgbClr val="666666"/>
                </a:solidFill>
                <a:latin typeface="Arial" panose="020B0604020202020204" pitchFamily="34" charset="0"/>
              </a:rPr>
              <a:t>06</a:t>
            </a:r>
            <a:endParaRPr kumimoji="1" lang="ja-JP" altLang="en-US" sz="1000">
              <a:solidFill>
                <a:srgbClr val="666666"/>
              </a:solidFill>
              <a:latin typeface="Arial" panose="020B0604020202020204" pitchFamily="34" charset="0"/>
            </a:endParaRPr>
          </a:p>
        </p:txBody>
      </p:sp>
      <p:pic>
        <p:nvPicPr>
          <p:cNvPr id="6" name="slide-06">
            <a:hlinkClick r:id="" action="ppaction://media"/>
            <a:extLst>
              <a:ext uri="{FF2B5EF4-FFF2-40B4-BE49-F238E27FC236}">
                <a16:creationId xmlns:a16="http://schemas.microsoft.com/office/drawing/2014/main" id="{B99A1B3F-FA42-5C8C-4E53-772EEFBE404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892800" y="3225800"/>
            <a:ext cx="12700" cy="12700"/>
          </a:xfrm>
          <a:prstGeom prst="rect">
            <a:avLst/>
          </a:prstGeom>
        </p:spPr>
      </p:pic>
    </p:spTree>
    <p:extLst>
      <p:ext uri="{BB962C8B-B14F-4D97-AF65-F5344CB8AC3E}">
        <p14:creationId xmlns:p14="http://schemas.microsoft.com/office/powerpoint/2010/main" val="3417675877"/>
      </p:ext>
    </p:extLst>
  </p:cSld>
  <p:clrMapOvr>
    <a:masterClrMapping/>
  </p:clrMapOvr>
  <mc:AlternateContent xmlns:mc="http://schemas.openxmlformats.org/markup-compatibility/2006">
    <mc:Choice xmlns:p14="http://schemas.microsoft.com/office/powerpoint/2010/main" Requires="p14">
      <p:transition spd="slow" p14:dur="2000" advTm="7000"/>
    </mc:Choice>
    <mc:Fallback>
      <p:transition spd="slow" advTm="7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42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175</Words>
  <Application>Microsoft Office PowerPoint</Application>
  <PresentationFormat>ユーザー設定</PresentationFormat>
  <Paragraphs>24</Paragraphs>
  <Slides>6</Slides>
  <Notes>0</Notes>
  <HiddenSlides>0</HiddenSlides>
  <MMClips>6</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啓介 加藤</dc:creator>
  <cp:lastModifiedBy>啓介 加藤</cp:lastModifiedBy>
  <cp:revision>1</cp:revision>
  <dcterms:created xsi:type="dcterms:W3CDTF">2026-07-30T07:21:44Z</dcterms:created>
  <dcterms:modified xsi:type="dcterms:W3CDTF">2026-07-30T07:21:44Z</dcterms:modified>
</cp:coreProperties>
</file>